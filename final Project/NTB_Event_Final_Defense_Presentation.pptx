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-1097280"/>
            <a:ext cx="3657600" cy="3657600"/>
          </a:xfrm>
          <a:prstGeom prst="ellipse">
            <a:avLst/>
          </a:prstGeom>
          <a:solidFill>
            <a:srgbClr val="1A3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4846320"/>
            <a:ext cx="2011680" cy="2011680"/>
          </a:xfrm>
          <a:prstGeom prst="ellipse">
            <a:avLst/>
          </a:prstGeom>
          <a:solidFill>
            <a:srgbClr val="122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4AF37"/>
                </a:solidFill>
                <a:latin typeface="Calibri"/>
              </a:rPr>
              <a:t>TRIBHUVAN UNIVERSITY  •  DEPARTMENT OF COMPUTER APPLICATION  •  FINAL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NTB EVENT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12848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AB09E"/>
                </a:solidFill>
                <a:latin typeface="Calibri"/>
              </a:rPr>
              <a:t>A Smart Event Management Platform for Nepal Tourism 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743200"/>
            <a:ext cx="2286000" cy="4114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07792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F0EA"/>
                </a:solidFill>
                <a:latin typeface="Calibri"/>
              </a:rPr>
              <a:t>Presented by:  Anjal Joshi  •  anjaljoshi6@gmail.com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55264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AB09E"/>
                </a:solidFill>
                <a:latin typeface="Calibri"/>
              </a:rPr>
              <a:t>Final Defense  •  August 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794760"/>
            <a:ext cx="7955279" cy="457200"/>
          </a:xfrm>
          <a:prstGeom prst="roundRect">
            <a:avLst>
              <a:gd name="adj" fmla="val 35000"/>
            </a:avLst>
          </a:prstGeom>
          <a:solidFill>
            <a:srgbClr val="2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94760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✓ All 4 AI Modules Complete    ✓ 24 / 24 Automated Tests Passing    ✓ Feature-Complete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572000"/>
            <a:ext cx="1737360" cy="384048"/>
          </a:xfrm>
          <a:prstGeom prst="roundRect">
            <a:avLst>
              <a:gd name="adj" fmla="val 30000"/>
            </a:avLst>
          </a:prstGeom>
          <a:solidFill>
            <a:srgbClr val="1A3522"/>
          </a:solidFill>
          <a:ln w="1270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572000"/>
            <a:ext cx="17373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C8102E"/>
                </a:solidFill>
                <a:latin typeface="Calibri"/>
              </a:rPr>
              <a:t>ASP.NET Core 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59152" y="4572000"/>
            <a:ext cx="1280160" cy="384048"/>
          </a:xfrm>
          <a:prstGeom prst="roundRect">
            <a:avLst>
              <a:gd name="adj" fmla="val 30000"/>
            </a:avLst>
          </a:prstGeom>
          <a:solidFill>
            <a:srgbClr val="1A352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59152" y="4572000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D4AF37"/>
                </a:solidFill>
                <a:latin typeface="Calibri"/>
              </a:rPr>
              <a:t>SvelteKit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03904" y="4572000"/>
            <a:ext cx="1645920" cy="384048"/>
          </a:xfrm>
          <a:prstGeom prst="roundRect">
            <a:avLst>
              <a:gd name="adj" fmla="val 30000"/>
            </a:avLst>
          </a:prstGeom>
          <a:solidFill>
            <a:srgbClr val="1A3522"/>
          </a:solidFill>
          <a:ln w="12700">
            <a:solidFill>
              <a:srgbClr val="5BA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03904" y="457200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5BA4CF"/>
                </a:solidFill>
                <a:latin typeface="Calibri"/>
              </a:rPr>
              <a:t>PostgreSQL 16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14416" y="4572000"/>
            <a:ext cx="2011680" cy="384048"/>
          </a:xfrm>
          <a:prstGeom prst="roundRect">
            <a:avLst>
              <a:gd name="adj" fmla="val 30000"/>
            </a:avLst>
          </a:prstGeom>
          <a:solidFill>
            <a:srgbClr val="1A3522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14416" y="4572000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2E7D32"/>
                </a:solidFill>
                <a:latin typeface="Calibri"/>
              </a:rPr>
              <a:t>AI: TF-IDF · BM25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27432"/>
          </a:xfrm>
          <a:prstGeom prst="rect">
            <a:avLst/>
          </a:prstGeom>
          <a:solidFill>
            <a:srgbClr val="2A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9AB09E"/>
                </a:solidFill>
                <a:latin typeface="Calibri"/>
              </a:rPr>
              <a:t>Department of Computer Application  •  Tribhuvan University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49224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 i="0">
                <a:solidFill>
                  <a:srgbClr val="9AB09E"/>
                </a:solidFill>
                <a:latin typeface="Calibri"/>
              </a:rPr>
              <a:t>1 / 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27432"/>
          </a:xfrm>
          <a:prstGeom prst="rect">
            <a:avLst/>
          </a:prstGeom>
          <a:solidFill>
            <a:srgbClr val="2A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B09E"/>
                </a:solidFill>
                <a:latin typeface="Calibri"/>
              </a:rPr>
              <a:t>NTB Event Management System  •  Final Defense  •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7395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AB09E"/>
                </a:solidFill>
                <a:latin typeface="Calibri"/>
              </a:rPr>
              <a:t>2 / 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01168"/>
            <a:ext cx="813816" cy="292608"/>
          </a:xfrm>
          <a:prstGeom prst="roundRect">
            <a:avLst>
              <a:gd name="adj" fmla="val 50000"/>
            </a:avLst>
          </a:prstGeom>
          <a:solidFill>
            <a:srgbClr val="1A3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01168"/>
            <a:ext cx="81381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D4AF37"/>
                </a:solidFill>
                <a:latin typeface="Calibri"/>
              </a:rPr>
              <a:t>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66928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 We'll Cover Today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70432"/>
            <a:ext cx="914400" cy="4114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" y="1371600"/>
            <a:ext cx="5394960" cy="932688"/>
          </a:xfrm>
          <a:prstGeom prst="roundRect">
            <a:avLst>
              <a:gd name="adj" fmla="val 8000"/>
            </a:avLst>
          </a:prstGeom>
          <a:solidFill>
            <a:srgbClr val="1A3522"/>
          </a:solidFill>
          <a:ln w="12700">
            <a:solidFill>
              <a:srgbClr val="2A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371600"/>
            <a:ext cx="64008" cy="93268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453896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C8102E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1463040"/>
            <a:ext cx="4480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Introduction &amp; 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1828800"/>
            <a:ext cx="4480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AB09E"/>
                </a:solidFill>
                <a:latin typeface="Calibri"/>
              </a:rPr>
              <a:t>Problem, goals, scope and limitations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468880"/>
            <a:ext cx="5394960" cy="932688"/>
          </a:xfrm>
          <a:prstGeom prst="roundRect">
            <a:avLst>
              <a:gd name="adj" fmla="val 8000"/>
            </a:avLst>
          </a:prstGeom>
          <a:solidFill>
            <a:srgbClr val="1A3522"/>
          </a:solidFill>
          <a:ln w="12700">
            <a:solidFill>
              <a:srgbClr val="2A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468880"/>
            <a:ext cx="64008" cy="93268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551176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C8102E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2560320"/>
            <a:ext cx="4480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System Architecture &amp;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2926080"/>
            <a:ext cx="4480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AB09E"/>
                </a:solidFill>
                <a:latin typeface="Calibri"/>
              </a:rPr>
              <a:t>Clean Architecture, ERD, use cases, tech stack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566160"/>
            <a:ext cx="5394960" cy="932688"/>
          </a:xfrm>
          <a:prstGeom prst="roundRect">
            <a:avLst>
              <a:gd name="adj" fmla="val 8000"/>
            </a:avLst>
          </a:prstGeom>
          <a:solidFill>
            <a:srgbClr val="1A3522"/>
          </a:solidFill>
          <a:ln w="12700">
            <a:solidFill>
              <a:srgbClr val="2A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566160"/>
            <a:ext cx="64008" cy="93268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648456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C8102E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3657600"/>
            <a:ext cx="4480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AI Modules — All 4 Complete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4023360"/>
            <a:ext cx="4480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AB09E"/>
                </a:solidFill>
                <a:latin typeface="Calibri"/>
              </a:rPr>
              <a:t>TF-IDF, BM25, Tag Suggestion, Popularity Scoring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4663440"/>
            <a:ext cx="5394960" cy="932688"/>
          </a:xfrm>
          <a:prstGeom prst="roundRect">
            <a:avLst>
              <a:gd name="adj" fmla="val 8000"/>
            </a:avLst>
          </a:prstGeom>
          <a:solidFill>
            <a:srgbClr val="1A3522"/>
          </a:solidFill>
          <a:ln w="12700">
            <a:solidFill>
              <a:srgbClr val="2A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663440"/>
            <a:ext cx="64008" cy="93268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745736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C8102E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4754880"/>
            <a:ext cx="4480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Guest Invitation &amp; QR Check-in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5120640"/>
            <a:ext cx="4480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AB09E"/>
                </a:solidFill>
                <a:latin typeface="Calibri"/>
              </a:rPr>
              <a:t>New since mid-term — full attendance workflow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16752" y="1371600"/>
            <a:ext cx="5394960" cy="932688"/>
          </a:xfrm>
          <a:prstGeom prst="roundRect">
            <a:avLst>
              <a:gd name="adj" fmla="val 8000"/>
            </a:avLst>
          </a:prstGeom>
          <a:solidFill>
            <a:srgbClr val="1A3522"/>
          </a:solidFill>
          <a:ln w="12700">
            <a:solidFill>
              <a:srgbClr val="2A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16752" y="1371600"/>
            <a:ext cx="64008" cy="93268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99632" y="1453896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C8102E"/>
                </a:solidFill>
                <a:latin typeface="Calibr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1463040"/>
            <a:ext cx="4480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Live System Walkthrough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1828800"/>
            <a:ext cx="4480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AB09E"/>
                </a:solidFill>
                <a:latin typeface="Calibri"/>
              </a:rPr>
              <a:t>Public discovery portal + admin control panel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16752" y="2468880"/>
            <a:ext cx="5394960" cy="932688"/>
          </a:xfrm>
          <a:prstGeom prst="roundRect">
            <a:avLst>
              <a:gd name="adj" fmla="val 8000"/>
            </a:avLst>
          </a:prstGeom>
          <a:solidFill>
            <a:srgbClr val="1A3522"/>
          </a:solidFill>
          <a:ln w="12700">
            <a:solidFill>
              <a:srgbClr val="2A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16752" y="2468880"/>
            <a:ext cx="64008" cy="93268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99632" y="2551176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C8102E"/>
                </a:solidFill>
                <a:latin typeface="Calibri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2560320"/>
            <a:ext cx="4480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Testing &amp; Results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2926080"/>
            <a:ext cx="4480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AB09E"/>
                </a:solidFill>
                <a:latin typeface="Calibri"/>
              </a:rPr>
              <a:t>24 / 24 automated tests passing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16752" y="3566160"/>
            <a:ext cx="5394960" cy="932688"/>
          </a:xfrm>
          <a:prstGeom prst="roundRect">
            <a:avLst>
              <a:gd name="adj" fmla="val 8000"/>
            </a:avLst>
          </a:prstGeom>
          <a:solidFill>
            <a:srgbClr val="1A3522"/>
          </a:solidFill>
          <a:ln w="12700">
            <a:solidFill>
              <a:srgbClr val="2A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16752" y="3566160"/>
            <a:ext cx="64008" cy="93268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99632" y="3648456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C8102E"/>
                </a:solidFill>
                <a:latin typeface="Calibri"/>
              </a:rPr>
              <a:t>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0" y="3657600"/>
            <a:ext cx="4480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Result Analysis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4023360"/>
            <a:ext cx="4480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AB09E"/>
                </a:solidFill>
                <a:latin typeface="Calibri"/>
              </a:rPr>
              <a:t>Delivered scope vs. original objectives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16752" y="4663440"/>
            <a:ext cx="5394960" cy="932688"/>
          </a:xfrm>
          <a:prstGeom prst="roundRect">
            <a:avLst>
              <a:gd name="adj" fmla="val 8000"/>
            </a:avLst>
          </a:prstGeom>
          <a:solidFill>
            <a:srgbClr val="1A3522"/>
          </a:solidFill>
          <a:ln w="12700">
            <a:solidFill>
              <a:srgbClr val="2A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016752" y="4663440"/>
            <a:ext cx="64008" cy="93268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99632" y="4745736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C8102E"/>
                </a:solidFill>
                <a:latin typeface="Calibri"/>
              </a:rPr>
              <a:t>08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66560" y="4754880"/>
            <a:ext cx="4480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66560" y="5120640"/>
            <a:ext cx="4480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AB09E"/>
                </a:solidFill>
                <a:latin typeface="Calibri"/>
              </a:rPr>
              <a:t>Wrap-up and the roadmap ahead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27432"/>
          </a:xfrm>
          <a:prstGeom prst="rect">
            <a:avLst/>
          </a:prstGeom>
          <a:solidFill>
            <a:srgbClr val="2A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B09E"/>
                </a:solidFill>
                <a:latin typeface="Calibri"/>
              </a:rPr>
              <a:t>NTB Event Management System  •  Final Defense  •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7395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AB09E"/>
                </a:solidFill>
                <a:latin typeface="Calibri"/>
              </a:rPr>
              <a:t>3 / 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01168"/>
            <a:ext cx="1307592" cy="292608"/>
          </a:xfrm>
          <a:prstGeom prst="roundRect">
            <a:avLst>
              <a:gd name="adj" fmla="val 50000"/>
            </a:avLst>
          </a:prstGeom>
          <a:solidFill>
            <a:srgbClr val="1A3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01168"/>
            <a:ext cx="130759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D4AF37"/>
                </a:solidFill>
                <a:latin typeface="Calibri"/>
              </a:rPr>
              <a:t>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66928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Problem We Solved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115568"/>
            <a:ext cx="11430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AB09E"/>
                </a:solidFill>
                <a:latin typeface="Calibri"/>
              </a:rPr>
              <a:t>Nepal's tourism event landscape suffered from fragmentation and a lack of digital structure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914400" cy="4114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235440" y="219456"/>
            <a:ext cx="2560320" cy="310896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0" y="219456"/>
            <a:ext cx="25603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RESOLVED — FINAL DEFENSE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1691640"/>
            <a:ext cx="3639312" cy="1691640"/>
          </a:xfrm>
          <a:prstGeom prst="roundRect">
            <a:avLst>
              <a:gd name="adj" fmla="val 6000"/>
            </a:avLst>
          </a:prstGeom>
          <a:solidFill>
            <a:srgbClr val="1A3522"/>
          </a:solidFill>
          <a:ln w="12700">
            <a:solidFill>
              <a:srgbClr val="2A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1691640"/>
            <a:ext cx="3639312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874520"/>
            <a:ext cx="32369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No Central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350008"/>
            <a:ext cx="32369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9AB09E"/>
                </a:solidFill>
                <a:latin typeface="Calibri"/>
              </a:rPr>
              <a:t>NTB had no single interface to manage festivals, meetings, holidays and general events.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87952" y="1691640"/>
            <a:ext cx="3639312" cy="1691640"/>
          </a:xfrm>
          <a:prstGeom prst="roundRect">
            <a:avLst>
              <a:gd name="adj" fmla="val 6000"/>
            </a:avLst>
          </a:prstGeom>
          <a:solidFill>
            <a:srgbClr val="1A3522"/>
          </a:solidFill>
          <a:ln w="12700">
            <a:solidFill>
              <a:srgbClr val="2A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87952" y="1691640"/>
            <a:ext cx="3639312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1874520"/>
            <a:ext cx="32369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Passive Discovery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350008"/>
            <a:ext cx="32369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9AB09E"/>
                </a:solidFill>
                <a:latin typeface="Calibri"/>
              </a:rPr>
              <a:t>The public scrolled flat lists — no intelligence behind what was surfaced.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10144" y="1691640"/>
            <a:ext cx="3639312" cy="1691640"/>
          </a:xfrm>
          <a:prstGeom prst="roundRect">
            <a:avLst>
              <a:gd name="adj" fmla="val 6000"/>
            </a:avLst>
          </a:prstGeom>
          <a:solidFill>
            <a:srgbClr val="1A3522"/>
          </a:solidFill>
          <a:ln w="12700">
            <a:solidFill>
              <a:srgbClr val="2A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10144" y="1691640"/>
            <a:ext cx="3639312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11312" y="1874520"/>
            <a:ext cx="32369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Inconsistent Tagging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2350008"/>
            <a:ext cx="32369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9AB09E"/>
                </a:solidFill>
                <a:latin typeface="Calibri"/>
              </a:rPr>
              <a:t>Manual tagging by staff led to mismatched categories and weak filtering.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566160"/>
            <a:ext cx="3639312" cy="1691640"/>
          </a:xfrm>
          <a:prstGeom prst="roundRect">
            <a:avLst>
              <a:gd name="adj" fmla="val 6000"/>
            </a:avLst>
          </a:prstGeom>
          <a:solidFill>
            <a:srgbClr val="1A3522"/>
          </a:solidFill>
          <a:ln w="12700">
            <a:solidFill>
              <a:srgbClr val="2A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3566160"/>
            <a:ext cx="3639312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3749040"/>
            <a:ext cx="32369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No Smart Search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4224528"/>
            <a:ext cx="32369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9AB09E"/>
                </a:solidFill>
                <a:latin typeface="Calibri"/>
              </a:rPr>
              <a:t>Plain ILIKE keyword matching returned results with zero relevance ranking.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87952" y="3566160"/>
            <a:ext cx="3639312" cy="1691640"/>
          </a:xfrm>
          <a:prstGeom prst="roundRect">
            <a:avLst>
              <a:gd name="adj" fmla="val 6000"/>
            </a:avLst>
          </a:prstGeom>
          <a:solidFill>
            <a:srgbClr val="1A3522"/>
          </a:solidFill>
          <a:ln w="12700">
            <a:solidFill>
              <a:srgbClr val="2A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87952" y="3566160"/>
            <a:ext cx="3639312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0" y="3749040"/>
            <a:ext cx="32369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No Popularity Signal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4224528"/>
            <a:ext cx="32369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9AB09E"/>
                </a:solidFill>
                <a:latin typeface="Calibri"/>
              </a:rPr>
              <a:t>No way to automatically surface trending or high-impact events.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10144" y="3566160"/>
            <a:ext cx="3639312" cy="1691640"/>
          </a:xfrm>
          <a:prstGeom prst="roundRect">
            <a:avLst>
              <a:gd name="adj" fmla="val 6000"/>
            </a:avLst>
          </a:prstGeom>
          <a:solidFill>
            <a:srgbClr val="1A3522"/>
          </a:solidFill>
          <a:ln w="12700">
            <a:solidFill>
              <a:srgbClr val="2A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10144" y="3566160"/>
            <a:ext cx="3639312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11312" y="3749040"/>
            <a:ext cx="32369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Manual Guest Check-in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2" y="4224528"/>
            <a:ext cx="32369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9AB09E"/>
                </a:solidFill>
                <a:latin typeface="Calibri"/>
              </a:rPr>
              <a:t>Inviting and verifying attendees at venues was a paper-based, error-prone process.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27432"/>
          </a:xfrm>
          <a:prstGeom prst="rect">
            <a:avLst/>
          </a:prstGeom>
          <a:solidFill>
            <a:srgbClr val="2A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B09E"/>
                </a:solidFill>
                <a:latin typeface="Calibri"/>
              </a:rPr>
              <a:t>NTB Event Management System  •  Final Defense  •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7395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AB09E"/>
                </a:solidFill>
                <a:latin typeface="Calibri"/>
              </a:rPr>
              <a:t>4 / 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01168"/>
            <a:ext cx="1307592" cy="292608"/>
          </a:xfrm>
          <a:prstGeom prst="roundRect">
            <a:avLst>
              <a:gd name="adj" fmla="val 50000"/>
            </a:avLst>
          </a:prstGeom>
          <a:solidFill>
            <a:srgbClr val="1A3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01168"/>
            <a:ext cx="130759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D4AF37"/>
                </a:solidFill>
                <a:latin typeface="Calibri"/>
              </a:rPr>
              <a:t>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66928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Project Objectives — All Achieved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115568"/>
            <a:ext cx="11430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AB09E"/>
                </a:solidFill>
                <a:latin typeface="Calibri"/>
              </a:rPr>
              <a:t>Every objective set at project inception has been implemented and verified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914400" cy="4114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1691640"/>
            <a:ext cx="3639312" cy="1417320"/>
          </a:xfrm>
          <a:prstGeom prst="roundRect">
            <a:avLst>
              <a:gd name="adj" fmla="val 8000"/>
            </a:avLst>
          </a:prstGeom>
          <a:solidFill>
            <a:srgbClr val="122B1A"/>
          </a:solidFill>
          <a:ln w="12700">
            <a:solidFill>
              <a:srgbClr val="2A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83794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837944"/>
            <a:ext cx="29077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E8F0EA"/>
                </a:solidFill>
                <a:latin typeface="Calibri"/>
              </a:rPr>
              <a:t>Design and develop a complete, production-grade event management platform for NTB.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87952" y="1691640"/>
            <a:ext cx="3639312" cy="1417320"/>
          </a:xfrm>
          <a:prstGeom prst="roundRect">
            <a:avLst>
              <a:gd name="adj" fmla="val 8000"/>
            </a:avLst>
          </a:prstGeom>
          <a:solidFill>
            <a:srgbClr val="122B1A"/>
          </a:solidFill>
          <a:ln w="12700">
            <a:solidFill>
              <a:srgbClr val="2A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0832" y="183794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1837944"/>
            <a:ext cx="29077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E8F0EA"/>
                </a:solidFill>
                <a:latin typeface="Calibri"/>
              </a:rPr>
              <a:t>Implement role-based access control — SuperAdmin, Admin, and Client roles.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0144" y="1691640"/>
            <a:ext cx="3639312" cy="1417320"/>
          </a:xfrm>
          <a:prstGeom prst="roundRect">
            <a:avLst>
              <a:gd name="adj" fmla="val 8000"/>
            </a:avLst>
          </a:prstGeom>
          <a:solidFill>
            <a:srgbClr val="122B1A"/>
          </a:solidFill>
          <a:ln w="12700">
            <a:solidFill>
              <a:srgbClr val="2A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93024" y="183794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58784" y="1837944"/>
            <a:ext cx="29077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E8F0EA"/>
                </a:solidFill>
                <a:latin typeface="Calibri"/>
              </a:rPr>
              <a:t>Build an interactive calendar (month/list view) with dual AD &amp; BS calendar support.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246120"/>
            <a:ext cx="3639312" cy="1417320"/>
          </a:xfrm>
          <a:prstGeom prst="roundRect">
            <a:avLst>
              <a:gd name="adj" fmla="val 8000"/>
            </a:avLst>
          </a:prstGeom>
          <a:solidFill>
            <a:srgbClr val="122B1A"/>
          </a:solidFill>
          <a:ln w="12700">
            <a:solidFill>
              <a:srgbClr val="2A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39242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392424"/>
            <a:ext cx="29077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E8F0EA"/>
                </a:solidFill>
                <a:latin typeface="Calibri"/>
              </a:rPr>
              <a:t>Implement a content-based recommendation engine using TF-IDF and Cosine Similarity.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87952" y="3246120"/>
            <a:ext cx="3639312" cy="1417320"/>
          </a:xfrm>
          <a:prstGeom prst="roundRect">
            <a:avLst>
              <a:gd name="adj" fmla="val 8000"/>
            </a:avLst>
          </a:prstGeom>
          <a:solidFill>
            <a:srgbClr val="122B1A"/>
          </a:solidFill>
          <a:ln w="12700">
            <a:solidFill>
              <a:srgbClr val="2A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70832" y="339242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36592" y="3392424"/>
            <a:ext cx="29077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E8F0EA"/>
                </a:solidFill>
                <a:latin typeface="Calibri"/>
              </a:rPr>
              <a:t>Develop a smart search module powered by the BM25 probabilistic ranking algorithm.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10144" y="3246120"/>
            <a:ext cx="3639312" cy="1417320"/>
          </a:xfrm>
          <a:prstGeom prst="roundRect">
            <a:avLst>
              <a:gd name="adj" fmla="val 8000"/>
            </a:avLst>
          </a:prstGeom>
          <a:solidFill>
            <a:srgbClr val="122B1A"/>
          </a:solidFill>
          <a:ln w="12700">
            <a:solidFill>
              <a:srgbClr val="2A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93024" y="339242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58784" y="3392424"/>
            <a:ext cx="29077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E8F0EA"/>
                </a:solidFill>
                <a:latin typeface="Calibri"/>
              </a:rPr>
              <a:t>Create an automated tag suggestion feature using TF-IDF keyword extraction.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4800600"/>
            <a:ext cx="3639312" cy="1417320"/>
          </a:xfrm>
          <a:prstGeom prst="roundRect">
            <a:avLst>
              <a:gd name="adj" fmla="val 8000"/>
            </a:avLst>
          </a:prstGeom>
          <a:solidFill>
            <a:srgbClr val="122B1A"/>
          </a:solidFill>
          <a:ln w="12700">
            <a:solidFill>
              <a:srgbClr val="2A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94690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946904"/>
            <a:ext cx="29077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E8F0EA"/>
                </a:solidFill>
                <a:latin typeface="Calibri"/>
              </a:rPr>
              <a:t>Implement a weighted popularity scoring model for intelligent event ranking.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87952" y="4800600"/>
            <a:ext cx="3639312" cy="1417320"/>
          </a:xfrm>
          <a:prstGeom prst="roundRect">
            <a:avLst>
              <a:gd name="adj" fmla="val 8000"/>
            </a:avLst>
          </a:prstGeom>
          <a:solidFill>
            <a:srgbClr val="122B1A"/>
          </a:solidFill>
          <a:ln w="12700">
            <a:solidFill>
              <a:srgbClr val="2A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70832" y="494690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36592" y="4946904"/>
            <a:ext cx="29077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E8F0EA"/>
                </a:solidFill>
                <a:latin typeface="Calibri"/>
              </a:rPr>
              <a:t>Implement a guest invitation and QR-code based check-in system.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10144" y="4800600"/>
            <a:ext cx="3639312" cy="1417320"/>
          </a:xfrm>
          <a:prstGeom prst="roundRect">
            <a:avLst>
              <a:gd name="adj" fmla="val 8000"/>
            </a:avLst>
          </a:prstGeom>
          <a:solidFill>
            <a:srgbClr val="122B1A"/>
          </a:solidFill>
          <a:ln w="12700">
            <a:solidFill>
              <a:srgbClr val="2A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93024" y="494690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58784" y="4946904"/>
            <a:ext cx="29077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E8F0EA"/>
                </a:solidFill>
                <a:latin typeface="Calibri"/>
              </a:rPr>
              <a:t>Follow Clean Architecture principles and validate correctness via automated testing.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27432"/>
          </a:xfrm>
          <a:prstGeom prst="rect">
            <a:avLst/>
          </a:prstGeom>
          <a:solidFill>
            <a:srgbClr val="2A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B09E"/>
                </a:solidFill>
                <a:latin typeface="Calibri"/>
              </a:rPr>
              <a:t>NTB Event Management System  •  Final Defense  •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7395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AB09E"/>
                </a:solidFill>
                <a:latin typeface="Calibri"/>
              </a:rPr>
              <a:t>5 / 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01168"/>
            <a:ext cx="1307592" cy="292608"/>
          </a:xfrm>
          <a:prstGeom prst="roundRect">
            <a:avLst>
              <a:gd name="adj" fmla="val 50000"/>
            </a:avLst>
          </a:prstGeom>
          <a:solidFill>
            <a:srgbClr val="1A3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01168"/>
            <a:ext cx="130759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D4AF37"/>
                </a:solidFill>
                <a:latin typeface="Calibri"/>
              </a:rPr>
              <a:t>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66928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Scope &amp; Limitations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70432"/>
            <a:ext cx="914400" cy="4114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" y="1371600"/>
            <a:ext cx="5440680" cy="4526280"/>
          </a:xfrm>
          <a:prstGeom prst="roundRect">
            <a:avLst>
              <a:gd name="adj" fmla="val 5000"/>
            </a:avLst>
          </a:prstGeom>
          <a:solidFill>
            <a:srgbClr val="1A3522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544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E7D32"/>
                </a:solidFill>
                <a:latin typeface="Calibri"/>
              </a:rPr>
              <a:t>In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029968"/>
            <a:ext cx="4983480" cy="3703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 b="1">
                <a:solidFill>
                  <a:srgbClr val="C8102E"/>
                </a:solidFill>
                <a:latin typeface="Calibri"/>
              </a:rPr>
              <a:t>▸  </a:t>
            </a:r>
            <a:r>
              <a:rPr sz="1200">
                <a:solidFill>
                  <a:srgbClr val="E8F0EA"/>
                </a:solidFill>
                <a:latin typeface="Calibri"/>
              </a:rPr>
              <a:t>Full event lifecycle: draft, publish, archive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 b="1">
                <a:solidFill>
                  <a:srgbClr val="C8102E"/>
                </a:solidFill>
                <a:latin typeface="Calibri"/>
              </a:rPr>
              <a:t>▸  </a:t>
            </a:r>
            <a:r>
              <a:rPr sz="1200">
                <a:solidFill>
                  <a:srgbClr val="E8F0EA"/>
                </a:solidFill>
                <a:latin typeface="Calibri"/>
              </a:rPr>
              <a:t>4 event types — Festival, Meeting, Holiday, General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 b="1">
                <a:solidFill>
                  <a:srgbClr val="C8102E"/>
                </a:solidFill>
                <a:latin typeface="Calibri"/>
              </a:rPr>
              <a:t>▸  </a:t>
            </a:r>
            <a:r>
              <a:rPr sz="1200">
                <a:solidFill>
                  <a:srgbClr val="E8F0EA"/>
                </a:solidFill>
                <a:latin typeface="Calibri"/>
              </a:rPr>
              <a:t>Image upload &amp; media management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 b="1">
                <a:solidFill>
                  <a:srgbClr val="C8102E"/>
                </a:solidFill>
                <a:latin typeface="Calibri"/>
              </a:rPr>
              <a:t>▸  </a:t>
            </a:r>
            <a:r>
              <a:rPr sz="1200">
                <a:solidFill>
                  <a:srgbClr val="E8F0EA"/>
                </a:solidFill>
                <a:latin typeface="Calibri"/>
              </a:rPr>
              <a:t>Category / tag management (many-to-many)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 b="1">
                <a:solidFill>
                  <a:srgbClr val="C8102E"/>
                </a:solidFill>
                <a:latin typeface="Calibri"/>
              </a:rPr>
              <a:t>▸  </a:t>
            </a:r>
            <a:r>
              <a:rPr sz="1200">
                <a:solidFill>
                  <a:srgbClr val="E8F0EA"/>
                </a:solidFill>
                <a:latin typeface="Calibri"/>
              </a:rPr>
              <a:t>RBAC — Super Admin, Admin, Client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 b="1">
                <a:solidFill>
                  <a:srgbClr val="C8102E"/>
                </a:solidFill>
                <a:latin typeface="Calibri"/>
              </a:rPr>
              <a:t>▸  </a:t>
            </a:r>
            <a:r>
              <a:rPr sz="1200">
                <a:solidFill>
                  <a:srgbClr val="E8F0EA"/>
                </a:solidFill>
                <a:latin typeface="Calibri"/>
              </a:rPr>
              <a:t>JWT auth with refresh-token rotation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 b="1">
                <a:solidFill>
                  <a:srgbClr val="C8102E"/>
                </a:solidFill>
                <a:latin typeface="Calibri"/>
              </a:rPr>
              <a:t>▸  </a:t>
            </a:r>
            <a:r>
              <a:rPr sz="1200">
                <a:solidFill>
                  <a:srgbClr val="E8F0EA"/>
                </a:solidFill>
                <a:latin typeface="Calibri"/>
              </a:rPr>
              <a:t>Calendar view, filtering &amp; smart search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 b="1">
                <a:solidFill>
                  <a:srgbClr val="C8102E"/>
                </a:solidFill>
                <a:latin typeface="Calibri"/>
              </a:rPr>
              <a:t>▸  </a:t>
            </a:r>
            <a:r>
              <a:rPr sz="1200">
                <a:solidFill>
                  <a:srgbClr val="E8F0EA"/>
                </a:solidFill>
                <a:latin typeface="Calibri"/>
              </a:rPr>
              <a:t>AI-assisted recommendation, ranking &amp; tagging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 b="1">
                <a:solidFill>
                  <a:srgbClr val="C8102E"/>
                </a:solidFill>
                <a:latin typeface="Calibri"/>
              </a:rPr>
              <a:t>▸  </a:t>
            </a:r>
            <a:r>
              <a:rPr sz="1200">
                <a:solidFill>
                  <a:srgbClr val="E8F0EA"/>
                </a:solidFill>
                <a:latin typeface="Calibri"/>
              </a:rPr>
              <a:t>Dual AD (English) and BS (Bikram Sambat) dates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 b="1">
                <a:solidFill>
                  <a:srgbClr val="C8102E"/>
                </a:solidFill>
                <a:latin typeface="Calibri"/>
              </a:rPr>
              <a:t>▸  </a:t>
            </a:r>
            <a:r>
              <a:rPr sz="1200">
                <a:solidFill>
                  <a:srgbClr val="E8F0EA"/>
                </a:solidFill>
                <a:latin typeface="Calibri"/>
              </a:rPr>
              <a:t>Guest invitation via email + QR check-in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371600"/>
            <a:ext cx="5440680" cy="4526280"/>
          </a:xfrm>
          <a:prstGeom prst="roundRect">
            <a:avLst>
              <a:gd name="adj" fmla="val 5000"/>
            </a:avLst>
          </a:prstGeom>
          <a:solidFill>
            <a:srgbClr val="1A3522"/>
          </a:solidFill>
          <a:ln w="1587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5544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4AF37"/>
                </a:solidFill>
                <a:latin typeface="Calibri"/>
              </a:rPr>
              <a:t>Limitations / Future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029968"/>
            <a:ext cx="4983480" cy="3703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200" b="1">
                <a:solidFill>
                  <a:srgbClr val="C8102E"/>
                </a:solidFill>
                <a:latin typeface="Calibri"/>
              </a:rPr>
              <a:t>○  </a:t>
            </a:r>
            <a:r>
              <a:rPr sz="1200">
                <a:solidFill>
                  <a:srgbClr val="E8F0EA"/>
                </a:solidFill>
                <a:latin typeface="Calibri"/>
              </a:rPr>
              <a:t>Content-based recommendations only — collaborative filtering (user behaviour) planned next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200" b="1">
                <a:solidFill>
                  <a:srgbClr val="C8102E"/>
                </a:solidFill>
                <a:latin typeface="Calibri"/>
              </a:rPr>
              <a:t>○  </a:t>
            </a:r>
            <a:r>
              <a:rPr sz="1200">
                <a:solidFill>
                  <a:srgbClr val="E8F0EA"/>
                </a:solidFill>
                <a:latin typeface="Calibri"/>
              </a:rPr>
              <a:t>No ticketing or payment processing yet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200" b="1">
                <a:solidFill>
                  <a:srgbClr val="C8102E"/>
                </a:solidFill>
                <a:latin typeface="Calibri"/>
              </a:rPr>
              <a:t>○  </a:t>
            </a:r>
            <a:r>
              <a:rPr sz="1200">
                <a:solidFill>
                  <a:srgbClr val="E8F0EA"/>
                </a:solidFill>
                <a:latin typeface="Calibri"/>
              </a:rPr>
              <a:t>No native mobile app — responsive web only, by design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200" b="1">
                <a:solidFill>
                  <a:srgbClr val="C8102E"/>
                </a:solidFill>
                <a:latin typeface="Calibri"/>
              </a:rPr>
              <a:t>○  </a:t>
            </a:r>
            <a:r>
              <a:rPr sz="1200">
                <a:solidFill>
                  <a:srgbClr val="E8F0EA"/>
                </a:solidFill>
                <a:latin typeface="Calibri"/>
              </a:rPr>
              <a:t>AI modules compute at request time — background pre-computation &amp; caching planned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27432"/>
          </a:xfrm>
          <a:prstGeom prst="rect">
            <a:avLst/>
          </a:prstGeom>
          <a:solidFill>
            <a:srgbClr val="2A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B09E"/>
                </a:solidFill>
                <a:latin typeface="Calibri"/>
              </a:rPr>
              <a:t>NTB Event Management System  •  Final Defense  •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7395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AB09E"/>
                </a:solidFill>
                <a:latin typeface="Calibri"/>
              </a:rPr>
              <a:t>6 / 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01168"/>
            <a:ext cx="1225295" cy="292608"/>
          </a:xfrm>
          <a:prstGeom prst="roundRect">
            <a:avLst>
              <a:gd name="adj" fmla="val 50000"/>
            </a:avLst>
          </a:prstGeom>
          <a:solidFill>
            <a:srgbClr val="1A3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01168"/>
            <a:ext cx="1225295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D4AF37"/>
                </a:solidFill>
                <a:latin typeface="Calibri"/>
              </a:rPr>
              <a:t>METHODOLOGY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66928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Agile-Incremental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115568"/>
            <a:ext cx="11430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AB09E"/>
                </a:solidFill>
                <a:latin typeface="Calibri"/>
              </a:rPr>
              <a:t>Six iterative sprints, each a working vertical slice reviewed against supervisor feedback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914400" cy="4114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169164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1A3522"/>
          </a:solidFill>
          <a:ln w="12700">
            <a:solidFill>
              <a:srgbClr val="2A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0352" y="18562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A3522"/>
          </a:solidFill>
          <a:ln w="1905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185623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C8102E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1837944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Core Infrastructure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167128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9AB09E"/>
                </a:solidFill>
                <a:latin typeface="Calibri"/>
              </a:rPr>
              <a:t>DB schema, Clean Architecture, JWT, RBAC, basic CRUD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2798064"/>
            <a:ext cx="31912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  <a:latin typeface="Calibri"/>
              </a:rPr>
              <a:t>✓ Complete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95344" y="2272284"/>
            <a:ext cx="1554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2A4A33"/>
                </a:solidFill>
                <a:latin typeface="Calibri"/>
              </a:rPr>
              <a:t>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59936" y="169164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1A3522"/>
          </a:solidFill>
          <a:ln w="12700">
            <a:solidFill>
              <a:srgbClr val="2A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224528" y="18562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A3522"/>
          </a:solidFill>
          <a:ln w="1905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24528" y="185623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C8102E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37176" y="1837944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Frontend Foundation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37176" y="2167128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9AB09E"/>
                </a:solidFill>
                <a:latin typeface="Calibri"/>
              </a:rPr>
              <a:t>SvelteKit setup, admin panel, forms, image upload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24528" y="2798064"/>
            <a:ext cx="31912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  <a:latin typeface="Calibri"/>
              </a:rPr>
              <a:t>✓ Complete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2272284"/>
            <a:ext cx="1554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2A4A33"/>
                </a:solidFill>
                <a:latin typeface="Calibri"/>
              </a:rPr>
              <a:t>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54112" y="169164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1A3522"/>
          </a:solidFill>
          <a:ln w="12700">
            <a:solidFill>
              <a:srgbClr val="2A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918704" y="18562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A3522"/>
          </a:solidFill>
          <a:ln w="1905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18704" y="185623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C8102E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31352" y="1837944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Calendar &amp; Public 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1352" y="2167128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9AB09E"/>
                </a:solidFill>
                <a:latin typeface="Calibri"/>
              </a:rPr>
              <a:t>Interactive calendar, discovery page, filters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18704" y="2798064"/>
            <a:ext cx="31912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  <a:latin typeface="Calibri"/>
              </a:rPr>
              <a:t>✓ Complete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3310128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122B1A"/>
          </a:solidFill>
          <a:ln w="12700">
            <a:solidFill>
              <a:srgbClr val="2A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30352" y="34747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A3522"/>
          </a:solidFill>
          <a:ln w="19050">
            <a:solidFill>
              <a:srgbClr val="1A7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34747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1A73A8"/>
                </a:solidFill>
                <a:latin typeface="Calibr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3456432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AI Modules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3785616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9AB09E"/>
                </a:solidFill>
                <a:latin typeface="Calibri"/>
              </a:rPr>
              <a:t>TF-IDF/Cosine, BM25, tag suggestion, popularity scoring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4416552"/>
            <a:ext cx="31912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  <a:latin typeface="Calibri"/>
              </a:rPr>
              <a:t>✓ Complete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95344" y="3890772"/>
            <a:ext cx="1554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2A4A33"/>
                </a:solidFill>
                <a:latin typeface="Calibri"/>
              </a:rPr>
              <a:t>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059936" y="3310128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122B1A"/>
          </a:solidFill>
          <a:ln w="12700">
            <a:solidFill>
              <a:srgbClr val="2A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224528" y="34747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A3522"/>
          </a:solidFill>
          <a:ln w="19050">
            <a:solidFill>
              <a:srgbClr val="1A7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24528" y="34747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1A73A8"/>
                </a:solidFill>
                <a:latin typeface="Calibri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37176" y="3456432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Guest Invitations &amp; QR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37176" y="3785616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9AB09E"/>
                </a:solidFill>
                <a:latin typeface="Calibri"/>
              </a:rPr>
              <a:t>Invite/guest model, QR generation, email, scan/verify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24528" y="4416552"/>
            <a:ext cx="31912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  <a:latin typeface="Calibri"/>
              </a:rPr>
              <a:t>✓ Complete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89520" y="3890772"/>
            <a:ext cx="1554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2A4A33"/>
                </a:solidFill>
                <a:latin typeface="Calibri"/>
              </a:rPr>
              <a:t>►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54112" y="3310128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122B1A"/>
          </a:solidFill>
          <a:ln w="12700">
            <a:solidFill>
              <a:srgbClr val="2A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918704" y="34747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A3522"/>
          </a:solidFill>
          <a:ln w="19050">
            <a:solidFill>
              <a:srgbClr val="1A7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18704" y="34747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1A73A8"/>
                </a:solidFill>
                <a:latin typeface="Calibri"/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31352" y="3456432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Testing &amp; Documentation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31352" y="3785616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9AB09E"/>
                </a:solidFill>
                <a:latin typeface="Calibri"/>
              </a:rPr>
              <a:t>24-case automated suite, result analysis, final report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18704" y="4416552"/>
            <a:ext cx="31912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  <a:latin typeface="Calibri"/>
              </a:rPr>
              <a:t>✓ Complete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65760" y="3291840"/>
            <a:ext cx="10908792" cy="18288"/>
          </a:xfrm>
          <a:prstGeom prst="roundRect">
            <a:avLst>
              <a:gd name="adj" fmla="val 6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" y="312724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D4AF37"/>
                </a:solidFill>
                <a:latin typeface="Calibri"/>
              </a:rPr>
              <a:t>◄ MID-TERM DEFENSE CHECKPOINT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27432"/>
          </a:xfrm>
          <a:prstGeom prst="rect">
            <a:avLst/>
          </a:prstGeom>
          <a:solidFill>
            <a:srgbClr val="2A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B09E"/>
                </a:solidFill>
                <a:latin typeface="Calibri"/>
              </a:rPr>
              <a:t>NTB Event Management System  •  Final Defense  •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7395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AB09E"/>
                </a:solidFill>
                <a:latin typeface="Calibri"/>
              </a:rPr>
              <a:t>7 / 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01168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1A3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01168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D4AF37"/>
                </a:solidFill>
                <a:latin typeface="Calibri"/>
              </a:rPr>
              <a:t>BACKGROUND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66928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Literature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115568"/>
            <a:ext cx="11430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AB09E"/>
                </a:solidFill>
                <a:latin typeface="Calibri"/>
              </a:rPr>
              <a:t>Comparing this platform's approach against existing systems and published research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914400" cy="4114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1691640"/>
            <a:ext cx="3639312" cy="2331720"/>
          </a:xfrm>
          <a:prstGeom prst="roundRect">
            <a:avLst>
              <a:gd name="adj" fmla="val 6000"/>
            </a:avLst>
          </a:prstGeom>
          <a:solidFill>
            <a:srgbClr val="1A3522"/>
          </a:solidFill>
          <a:ln w="1587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691640"/>
            <a:ext cx="3639312" cy="5486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1892808"/>
            <a:ext cx="32369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Eventbrite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350008"/>
            <a:ext cx="3236976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AB09E"/>
                </a:solidFill>
                <a:latin typeface="Calibri"/>
              </a:rPr>
              <a:t>Global event platform — recommendations rely on collaborative filtering from purchase history and user behaviour. Requires large behavioural datasets, unsuitable for a new platform with a cold start.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87952" y="1691640"/>
            <a:ext cx="3639312" cy="2331720"/>
          </a:xfrm>
          <a:prstGeom prst="roundRect">
            <a:avLst>
              <a:gd name="adj" fmla="val 6000"/>
            </a:avLst>
          </a:prstGeom>
          <a:solidFill>
            <a:srgbClr val="1A3522"/>
          </a:solidFill>
          <a:ln w="1587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87952" y="1691640"/>
            <a:ext cx="3639312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1892808"/>
            <a:ext cx="32369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Nepal Tourism Portals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350008"/>
            <a:ext cx="3236976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AB09E"/>
                </a:solidFill>
                <a:latin typeface="Calibri"/>
              </a:rPr>
              <a:t>Existing government portals (e.g. tourismdepartment.gov.np) serve static content only — no dynamic events, admin workflows, or intelligent discovery.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1691640"/>
            <a:ext cx="3639312" cy="2331720"/>
          </a:xfrm>
          <a:prstGeom prst="roundRect">
            <a:avLst>
              <a:gd name="adj" fmla="val 6000"/>
            </a:avLst>
          </a:prstGeom>
          <a:solidFill>
            <a:srgbClr val="1A3522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0144" y="1691640"/>
            <a:ext cx="3639312" cy="5486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1312" y="1892808"/>
            <a:ext cx="32369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This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2" y="2350008"/>
            <a:ext cx="3236976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AB09E"/>
                </a:solidFill>
                <a:latin typeface="Calibri"/>
              </a:rPr>
              <a:t>Content-based TF-IDF + Cosine Similarity works well from day one with no user history required — ideal for NTB's cold-start scenario.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4251960"/>
            <a:ext cx="11109960" cy="1508760"/>
          </a:xfrm>
          <a:prstGeom prst="roundRect">
            <a:avLst>
              <a:gd name="adj" fmla="val 6000"/>
            </a:avLst>
          </a:prstGeom>
          <a:solidFill>
            <a:srgbClr val="122B1A"/>
          </a:solidFill>
          <a:ln w="12700">
            <a:solidFill>
              <a:srgbClr val="2A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416552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  <a:latin typeface="Calibri"/>
              </a:rPr>
              <a:t>Supporting Research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782312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C8102E"/>
                </a:solidFill>
                <a:latin typeface="Calibri"/>
              </a:rPr>
              <a:t>▸  </a:t>
            </a:r>
            <a:r>
              <a:rPr sz="1100">
                <a:solidFill>
                  <a:srgbClr val="E8F0EA"/>
                </a:solidFill>
                <a:latin typeface="Calibri"/>
              </a:rPr>
              <a:t>Robertson &amp; Zaragoza (2009) establish BM25 as a robust, parameter-tunable text-retrieval algorithm — the same ranking core used by Elasticsearch and Lucene.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C8102E"/>
                </a:solidFill>
                <a:latin typeface="Calibri"/>
              </a:rPr>
              <a:t>▸  </a:t>
            </a:r>
            <a:r>
              <a:rPr sz="1100">
                <a:solidFill>
                  <a:srgbClr val="E8F0EA"/>
                </a:solidFill>
                <a:latin typeface="Calibri"/>
              </a:rPr>
              <a:t>Lops et al. (2011) identify TF-IDF as a foundational, highly interpretable method for content-based filtering in text-rich domains — directly applicable to events.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27432"/>
          </a:xfrm>
          <a:prstGeom prst="rect">
            <a:avLst/>
          </a:prstGeom>
          <a:solidFill>
            <a:srgbClr val="2A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B09E"/>
                </a:solidFill>
                <a:latin typeface="Calibri"/>
              </a:rPr>
              <a:t>NTB Event Management System  •  Final Defense  •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7395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AB09E"/>
                </a:solidFill>
                <a:latin typeface="Calibri"/>
              </a:rPr>
              <a:t>8 / 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01168"/>
            <a:ext cx="1307592" cy="292608"/>
          </a:xfrm>
          <a:prstGeom prst="roundRect">
            <a:avLst>
              <a:gd name="adj" fmla="val 50000"/>
            </a:avLst>
          </a:prstGeom>
          <a:solidFill>
            <a:srgbClr val="1A3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01168"/>
            <a:ext cx="130759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D4AF37"/>
                </a:solidFill>
                <a:latin typeface="Calibri"/>
              </a:rPr>
              <a:t>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66928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115568"/>
            <a:ext cx="11430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AB09E"/>
                </a:solidFill>
                <a:latin typeface="Calibri"/>
              </a:rPr>
              <a:t>Clean Architecture backend + a SvelteKit backend-for-frontend (BFF)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914400" cy="4114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1691640"/>
            <a:ext cx="5212080" cy="896112"/>
          </a:xfrm>
          <a:prstGeom prst="roundRect">
            <a:avLst>
              <a:gd name="adj" fmla="val 6000"/>
            </a:avLst>
          </a:prstGeom>
          <a:solidFill>
            <a:srgbClr val="C8102E"/>
          </a:solidFill>
          <a:ln w="12700">
            <a:solidFill>
              <a:srgbClr val="2A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801368"/>
            <a:ext cx="48097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API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148840"/>
            <a:ext cx="48097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8F0EA"/>
                </a:solidFill>
                <a:latin typeface="Calibri"/>
              </a:rPr>
              <a:t>Controllers · JWT Auth · Swagger · CORS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592324"/>
            <a:ext cx="3657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2A4A33"/>
                </a:solidFill>
                <a:latin typeface="Calibri"/>
              </a:rPr>
              <a:t>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761488"/>
            <a:ext cx="5212080" cy="896112"/>
          </a:xfrm>
          <a:prstGeom prst="roundRect">
            <a:avLst>
              <a:gd name="adj" fmla="val 6000"/>
            </a:avLst>
          </a:prstGeom>
          <a:solidFill>
            <a:srgbClr val="1E5C3A"/>
          </a:solidFill>
          <a:ln w="12700">
            <a:solidFill>
              <a:srgbClr val="2A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871216"/>
            <a:ext cx="48097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Application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218688"/>
            <a:ext cx="48097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8F0EA"/>
                </a:solidFill>
                <a:latin typeface="Calibri"/>
              </a:rPr>
              <a:t>Services · Repository Contracts · DTOs · TF-IDF / BM25 / Popularity / Tag logic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3662172"/>
            <a:ext cx="3657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2A4A33"/>
                </a:solidFill>
                <a:latin typeface="Calibri"/>
              </a:rPr>
              <a:t>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831336"/>
            <a:ext cx="5212080" cy="896112"/>
          </a:xfrm>
          <a:prstGeom prst="roundRect">
            <a:avLst>
              <a:gd name="adj" fmla="val 6000"/>
            </a:avLst>
          </a:prstGeom>
          <a:solidFill>
            <a:srgbClr val="164A2D"/>
          </a:solidFill>
          <a:ln w="12700">
            <a:solidFill>
              <a:srgbClr val="2A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941064"/>
            <a:ext cx="48097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Infrastructure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288536"/>
            <a:ext cx="48097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8F0EA"/>
                </a:solidFill>
                <a:latin typeface="Calibri"/>
              </a:rPr>
              <a:t>EF Core · Dapper · PostgreSQL · BCrypt · QRCoder · SMTP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4732020"/>
            <a:ext cx="3657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2A4A33"/>
                </a:solidFill>
                <a:latin typeface="Calibri"/>
              </a:rPr>
              <a:t>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4901184"/>
            <a:ext cx="5212080" cy="896112"/>
          </a:xfrm>
          <a:prstGeom prst="roundRect">
            <a:avLst>
              <a:gd name="adj" fmla="val 6000"/>
            </a:avLst>
          </a:prstGeom>
          <a:solidFill>
            <a:srgbClr val="103A22"/>
          </a:solidFill>
          <a:ln w="12700">
            <a:solidFill>
              <a:srgbClr val="2A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5010912"/>
            <a:ext cx="48097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Domain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5358384"/>
            <a:ext cx="48097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8F0EA"/>
                </a:solidFill>
                <a:latin typeface="Calibri"/>
              </a:rPr>
              <a:t>Entities (Event, User, Category, Tag, Guest, Invitation) &amp; Enums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89320" y="1691640"/>
            <a:ext cx="5468112" cy="1417320"/>
          </a:xfrm>
          <a:prstGeom prst="roundRect">
            <a:avLst>
              <a:gd name="adj" fmla="val 6000"/>
            </a:avLst>
          </a:prstGeom>
          <a:solidFill>
            <a:srgbClr val="1A3522"/>
          </a:solidFill>
          <a:ln w="1905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1828800"/>
            <a:ext cx="50109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Frontend — SvelteKit + TypeScript + BFF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2221992"/>
            <a:ext cx="50109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E8F0EA"/>
                </a:solidFill>
                <a:latin typeface="Calibri"/>
              </a:rPr>
              <a:t>Reactive SPA/SSR UI · admin dashboard · public portal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E8F0EA"/>
                </a:solidFill>
                <a:latin typeface="Calibri"/>
              </a:rPr>
              <a:t>Server routes proxy the API — access tokens never reach the browser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89320" y="3236976"/>
            <a:ext cx="5468112" cy="1417320"/>
          </a:xfrm>
          <a:prstGeom prst="roundRect">
            <a:avLst>
              <a:gd name="adj" fmla="val 6000"/>
            </a:avLst>
          </a:prstGeom>
          <a:solidFill>
            <a:srgbClr val="1A3522"/>
          </a:solidFill>
          <a:ln w="19050">
            <a:solidFill>
              <a:srgbClr val="1A7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3374136"/>
            <a:ext cx="50109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5BA4CF"/>
                </a:solidFill>
                <a:latin typeface="Calibri"/>
              </a:rPr>
              <a:t>Database — PostgreSQL 16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3767328"/>
            <a:ext cx="50109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E8F0EA"/>
                </a:solidFill>
                <a:latin typeface="Calibri"/>
              </a:rPr>
              <a:t>EF Core for CRUD · Dapper for performance-critical list queries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E8F0EA"/>
                </a:solidFill>
                <a:latin typeface="Calibri"/>
              </a:rPr>
              <a:t>JSON columns for images / highlights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89320" y="4782312"/>
            <a:ext cx="5468112" cy="1417320"/>
          </a:xfrm>
          <a:prstGeom prst="roundRect">
            <a:avLst>
              <a:gd name="adj" fmla="val 6000"/>
            </a:avLst>
          </a:prstGeom>
          <a:solidFill>
            <a:srgbClr val="2B1A1A"/>
          </a:solidFill>
          <a:ln w="1905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4919472"/>
            <a:ext cx="50109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8102E"/>
                </a:solidFill>
                <a:latin typeface="Calibri"/>
              </a:rPr>
              <a:t>AI Modules — Pure C# (No 3rd-Party AI)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5312664"/>
            <a:ext cx="50109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E8F0EA"/>
                </a:solidFill>
                <a:latin typeface="Calibri"/>
              </a:rPr>
              <a:t>TF-IDF · Cosine Similarity · BM25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E8F0EA"/>
                </a:solidFill>
                <a:latin typeface="Calibri"/>
              </a:rPr>
              <a:t>Keyword Extraction · Levenshtein · Weighted Scoring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27432"/>
          </a:xfrm>
          <a:prstGeom prst="rect">
            <a:avLst/>
          </a:prstGeom>
          <a:solidFill>
            <a:srgbClr val="2A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B09E"/>
                </a:solidFill>
                <a:latin typeface="Calibri"/>
              </a:rPr>
              <a:t>NTB Event Management System  •  Final Defense  •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7395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AB09E"/>
                </a:solidFill>
                <a:latin typeface="Calibri"/>
              </a:rPr>
              <a:t>9 / 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01168"/>
            <a:ext cx="813816" cy="292608"/>
          </a:xfrm>
          <a:prstGeom prst="roundRect">
            <a:avLst>
              <a:gd name="adj" fmla="val 50000"/>
            </a:avLst>
          </a:prstGeom>
          <a:solidFill>
            <a:srgbClr val="1A3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01168"/>
            <a:ext cx="81381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D4AF37"/>
                </a:solidFill>
                <a:latin typeface="Calibri"/>
              </a:rPr>
              <a:t>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66928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Database Design — Entity Relationship Diagram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115568"/>
            <a:ext cx="11430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AB09E"/>
                </a:solidFill>
                <a:latin typeface="Calibri"/>
              </a:rPr>
              <a:t>PostgreSQL schema covering events, users, tags, and the guest invitation / QR workflow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914400" cy="4114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990473" y="2194560"/>
            <a:ext cx="8211662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8489" y="2322576"/>
            <a:ext cx="7955630" cy="367588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5760" y="6035040"/>
            <a:ext cx="11430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9AB09E"/>
                </a:solidFill>
                <a:latin typeface="Calibri"/>
              </a:rPr>
              <a:t>events · users · refresh_tokens · categories · tags · event_tags · categories_tags · invitation_guests · event_invitations · invitation_scans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27432"/>
          </a:xfrm>
          <a:prstGeom prst="rect">
            <a:avLst/>
          </a:prstGeom>
          <a:solidFill>
            <a:srgbClr val="2A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B09E"/>
                </a:solidFill>
                <a:latin typeface="Calibri"/>
              </a:rPr>
              <a:t>NTB Event Management System  •  Final Defense  •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7395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AB09E"/>
                </a:solidFill>
                <a:latin typeface="Calibri"/>
              </a:rPr>
              <a:t>10 / 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01168"/>
            <a:ext cx="813816" cy="292608"/>
          </a:xfrm>
          <a:prstGeom prst="roundRect">
            <a:avLst>
              <a:gd name="adj" fmla="val 50000"/>
            </a:avLst>
          </a:prstGeom>
          <a:solidFill>
            <a:srgbClr val="1A3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01168"/>
            <a:ext cx="81381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D4AF37"/>
                </a:solidFill>
                <a:latin typeface="Calibri"/>
              </a:rPr>
              <a:t>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66928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Use Case Diagram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115568"/>
            <a:ext cx="11430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AB09E"/>
                </a:solidFill>
                <a:latin typeface="Calibri"/>
              </a:rPr>
              <a:t>Two actor groups — Public Users / Clients and Administrators — interact with the platform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914400" cy="4114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743760" y="2103120"/>
            <a:ext cx="8705088" cy="4480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776" y="2231136"/>
            <a:ext cx="8449056" cy="42245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27432"/>
          </a:xfrm>
          <a:prstGeom prst="rect">
            <a:avLst/>
          </a:prstGeom>
          <a:solidFill>
            <a:srgbClr val="2A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B09E"/>
                </a:solidFill>
                <a:latin typeface="Calibri"/>
              </a:rPr>
              <a:t>NTB Event Management System  •  Final Defense  •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7395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AB09E"/>
                </a:solidFill>
                <a:latin typeface="Calibri"/>
              </a:rPr>
              <a:t>11 / 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01168"/>
            <a:ext cx="1307592" cy="292608"/>
          </a:xfrm>
          <a:prstGeom prst="roundRect">
            <a:avLst>
              <a:gd name="adj" fmla="val 50000"/>
            </a:avLst>
          </a:prstGeom>
          <a:solidFill>
            <a:srgbClr val="1A3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01168"/>
            <a:ext cx="130759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D4AF37"/>
                </a:solidFill>
                <a:latin typeface="Calibri"/>
              </a:rPr>
              <a:t>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66928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70432"/>
            <a:ext cx="914400" cy="4114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" y="1371600"/>
            <a:ext cx="3639312" cy="2148840"/>
          </a:xfrm>
          <a:prstGeom prst="roundRect">
            <a:avLst>
              <a:gd name="adj" fmla="val 7000"/>
            </a:avLst>
          </a:prstGeom>
          <a:solidFill>
            <a:srgbClr val="1A3522"/>
          </a:solidFill>
          <a:ln w="12700">
            <a:solidFill>
              <a:srgbClr val="2A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371600"/>
            <a:ext cx="3639312" cy="5486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1554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C8102E"/>
                </a:solidFill>
                <a:latin typeface="Calibri"/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202996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F0EA"/>
                </a:solidFill>
                <a:latin typeface="Calibri"/>
              </a:rPr>
              <a:t>•  ASP.NET Core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" y="2414016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F0EA"/>
                </a:solidFill>
                <a:latin typeface="Calibri"/>
              </a:rPr>
              <a:t>•  Clean Architecture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87952" y="1371600"/>
            <a:ext cx="3639312" cy="2148840"/>
          </a:xfrm>
          <a:prstGeom prst="roundRect">
            <a:avLst>
              <a:gd name="adj" fmla="val 7000"/>
            </a:avLst>
          </a:prstGeom>
          <a:solidFill>
            <a:srgbClr val="1A3522"/>
          </a:solidFill>
          <a:ln w="12700">
            <a:solidFill>
              <a:srgbClr val="2A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87952" y="1371600"/>
            <a:ext cx="3639312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07408" y="1554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4AF37"/>
                </a:solidFill>
                <a:latin typeface="Calibri"/>
              </a:rPr>
              <a:t>Data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8" y="202996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F0EA"/>
                </a:solidFill>
                <a:latin typeface="Calibri"/>
              </a:rPr>
              <a:t>•  PostgreSQL 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2414016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F0EA"/>
                </a:solidFill>
                <a:latin typeface="Calibri"/>
              </a:rPr>
              <a:t>•  EF Core 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279806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F0EA"/>
                </a:solidFill>
                <a:latin typeface="Calibri"/>
              </a:rPr>
              <a:t>•  Dapper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10144" y="1371600"/>
            <a:ext cx="3639312" cy="2148840"/>
          </a:xfrm>
          <a:prstGeom prst="roundRect">
            <a:avLst>
              <a:gd name="adj" fmla="val 7000"/>
            </a:avLst>
          </a:prstGeom>
          <a:solidFill>
            <a:srgbClr val="1A3522"/>
          </a:solidFill>
          <a:ln w="12700">
            <a:solidFill>
              <a:srgbClr val="2A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10144" y="1371600"/>
            <a:ext cx="3639312" cy="54864"/>
          </a:xfrm>
          <a:prstGeom prst="rect">
            <a:avLst/>
          </a:prstGeom>
          <a:solidFill>
            <a:srgbClr val="5BA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1554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5BA4CF"/>
                </a:solidFill>
                <a:latin typeface="Calibri"/>
              </a:rPr>
              <a:t>Security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02996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F0EA"/>
                </a:solidFill>
                <a:latin typeface="Calibri"/>
              </a:rPr>
              <a:t>•  JWT + Refresh Tokens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414016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F0EA"/>
                </a:solidFill>
                <a:latin typeface="Calibri"/>
              </a:rPr>
              <a:t>•  BCrypt.Net hashing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3703320"/>
            <a:ext cx="3639312" cy="2148840"/>
          </a:xfrm>
          <a:prstGeom prst="roundRect">
            <a:avLst>
              <a:gd name="adj" fmla="val 7000"/>
            </a:avLst>
          </a:prstGeom>
          <a:solidFill>
            <a:srgbClr val="1A3522"/>
          </a:solidFill>
          <a:ln w="12700">
            <a:solidFill>
              <a:srgbClr val="2A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3703320"/>
            <a:ext cx="3639312" cy="5486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5216" y="38862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  <a:latin typeface="Calibri"/>
              </a:rPr>
              <a:t>AI &amp; Algorithms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" y="436168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F0EA"/>
                </a:solidFill>
                <a:latin typeface="Calibri"/>
              </a:rPr>
              <a:t>•  TF-IDF · BM25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6" y="4745736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F0EA"/>
                </a:solidFill>
                <a:latin typeface="Calibri"/>
              </a:rPr>
              <a:t>•  Cosine Similarity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" y="512978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F0EA"/>
                </a:solidFill>
                <a:latin typeface="Calibri"/>
              </a:rPr>
              <a:t>•  Levenshtein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87952" y="3703320"/>
            <a:ext cx="3639312" cy="2148840"/>
          </a:xfrm>
          <a:prstGeom prst="roundRect">
            <a:avLst>
              <a:gd name="adj" fmla="val 7000"/>
            </a:avLst>
          </a:prstGeom>
          <a:solidFill>
            <a:srgbClr val="1A3522"/>
          </a:solidFill>
          <a:ln w="12700">
            <a:solidFill>
              <a:srgbClr val="2A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87952" y="3703320"/>
            <a:ext cx="3639312" cy="54864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07408" y="38862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07A5F"/>
                </a:solidFill>
                <a:latin typeface="Calibri"/>
              </a:rPr>
              <a:t>Frontend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07408" y="436168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F0EA"/>
                </a:solidFill>
                <a:latin typeface="Calibri"/>
              </a:rPr>
              <a:t>•  SvelteKit + TypeScript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07408" y="4745736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F0EA"/>
                </a:solidFill>
                <a:latin typeface="Calibri"/>
              </a:rPr>
              <a:t>•  Tailwind / CSS Vars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10144" y="3703320"/>
            <a:ext cx="3639312" cy="2148840"/>
          </a:xfrm>
          <a:prstGeom prst="roundRect">
            <a:avLst>
              <a:gd name="adj" fmla="val 7000"/>
            </a:avLst>
          </a:prstGeom>
          <a:solidFill>
            <a:srgbClr val="1A3522"/>
          </a:solidFill>
          <a:ln w="12700">
            <a:solidFill>
              <a:srgbClr val="2A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10144" y="3703320"/>
            <a:ext cx="3639312" cy="54864"/>
          </a:xfrm>
          <a:prstGeom prst="rect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0" y="38862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9B59B6"/>
                </a:solidFill>
                <a:latin typeface="Calibri"/>
              </a:rPr>
              <a:t>Tooling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436168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F0EA"/>
                </a:solidFill>
                <a:latin typeface="Calibri"/>
              </a:rPr>
              <a:t>•  QRCoder · SMTP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4745736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F0EA"/>
                </a:solidFill>
                <a:latin typeface="Calibri"/>
              </a:rPr>
              <a:t>•  Swagger/OpenAPI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512978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F0EA"/>
                </a:solidFill>
                <a:latin typeface="Calibri"/>
              </a:rPr>
              <a:t>•  xUnit + Moq · Git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27432"/>
          </a:xfrm>
          <a:prstGeom prst="rect">
            <a:avLst/>
          </a:prstGeom>
          <a:solidFill>
            <a:srgbClr val="2A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B09E"/>
                </a:solidFill>
                <a:latin typeface="Calibri"/>
              </a:rPr>
              <a:t>NTB Event Management System  •  Final Defense  •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7395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AB09E"/>
                </a:solidFill>
                <a:latin typeface="Calibri"/>
              </a:rPr>
              <a:t>12 / 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01168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1A3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01168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D4AF37"/>
                </a:solidFill>
                <a:latin typeface="Calibri"/>
              </a:rPr>
              <a:t>AI MODULES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66928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4 Self-Built AI Modules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115568"/>
            <a:ext cx="11430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AB09E"/>
                </a:solidFill>
                <a:latin typeface="Calibri"/>
              </a:rPr>
              <a:t>All implemented natively in C# — no external AI API dependency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914400" cy="4114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0" y="219456"/>
            <a:ext cx="4480560" cy="310896"/>
          </a:xfrm>
          <a:prstGeom prst="roundRect">
            <a:avLst>
              <a:gd name="adj" fmla="val 50000"/>
            </a:avLst>
          </a:prstGeom>
          <a:solidFill>
            <a:srgbClr val="6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219456"/>
            <a:ext cx="4480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Not SQL queries. Not 3rd-party AI. Pure algorithms.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1691640"/>
            <a:ext cx="5394960" cy="2057400"/>
          </a:xfrm>
          <a:prstGeom prst="roundRect">
            <a:avLst>
              <a:gd name="adj" fmla="val 6000"/>
            </a:avLst>
          </a:prstGeom>
          <a:solidFill>
            <a:srgbClr val="1A3522"/>
          </a:solidFill>
          <a:ln w="1905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1691640"/>
            <a:ext cx="5394960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1856232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Calibri"/>
              </a:rPr>
              <a:t>01   Recommendation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2199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C8102E"/>
                </a:solidFill>
                <a:latin typeface="Calibri"/>
              </a:rPr>
              <a:t>Algorithm: TF-IDF + Cosine Similarity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560320"/>
            <a:ext cx="4937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8F0EA"/>
                </a:solidFill>
                <a:latin typeface="Calibri"/>
              </a:rPr>
              <a:t>Suggests similar events by content — title (3×), summary (2×), description, category, region &amp; tags.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364992"/>
            <a:ext cx="4937760" cy="274320"/>
          </a:xfrm>
          <a:prstGeom prst="roundRect">
            <a:avLst>
              <a:gd name="adj" fmla="val 50000"/>
            </a:avLst>
          </a:prstGeom>
          <a:solidFill>
            <a:srgbClr val="0F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36499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9AB09E"/>
                </a:solidFill>
                <a:latin typeface="Calibri"/>
              </a:rPr>
              <a:t>GET /api/events/{id}/recommendations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16752" y="1691640"/>
            <a:ext cx="5394960" cy="2057400"/>
          </a:xfrm>
          <a:prstGeom prst="roundRect">
            <a:avLst>
              <a:gd name="adj" fmla="val 6000"/>
            </a:avLst>
          </a:prstGeom>
          <a:solidFill>
            <a:srgbClr val="1A3522"/>
          </a:solidFill>
          <a:ln w="1905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16752" y="1691640"/>
            <a:ext cx="5394960" cy="502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1856232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Calibri"/>
              </a:rPr>
              <a:t>02   Smart 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222199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D4AF37"/>
                </a:solidFill>
                <a:latin typeface="Calibri"/>
              </a:rPr>
              <a:t>Algorithm: BM25 (Okapi Best Match 25)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5352" y="2560320"/>
            <a:ext cx="4937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8F0EA"/>
                </a:solidFill>
                <a:latin typeface="Calibri"/>
              </a:rPr>
              <a:t>Probabilistic ranking — the same algorithm behind Elasticsearch, Solr and Lucene.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45352" y="3364992"/>
            <a:ext cx="4937760" cy="274320"/>
          </a:xfrm>
          <a:prstGeom prst="roundRect">
            <a:avLst>
              <a:gd name="adj" fmla="val 50000"/>
            </a:avLst>
          </a:prstGeom>
          <a:solidFill>
            <a:srgbClr val="0F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45352" y="336499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9AB09E"/>
                </a:solidFill>
                <a:latin typeface="Calibri"/>
              </a:rPr>
              <a:t>GET /api/events/search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3931920"/>
            <a:ext cx="5394960" cy="2057400"/>
          </a:xfrm>
          <a:prstGeom prst="roundRect">
            <a:avLst>
              <a:gd name="adj" fmla="val 6000"/>
            </a:avLst>
          </a:prstGeom>
          <a:solidFill>
            <a:srgbClr val="1A3522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3931920"/>
            <a:ext cx="5394960" cy="5029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4096512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Calibri"/>
              </a:rPr>
              <a:t>03   Auto Tag Suggestion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446227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E7D32"/>
                </a:solidFill>
                <a:latin typeface="Calibri"/>
              </a:rPr>
              <a:t>Algorithm: TF-IDF Keyword Extraction + Levenshtein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4800600"/>
            <a:ext cx="4937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8F0EA"/>
                </a:solidFill>
                <a:latin typeface="Calibri"/>
              </a:rPr>
              <a:t>Extracts keywords from title/description and fuzzy-matches them to existing tags.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5605272"/>
            <a:ext cx="4937760" cy="274320"/>
          </a:xfrm>
          <a:prstGeom prst="roundRect">
            <a:avLst>
              <a:gd name="adj" fmla="val 50000"/>
            </a:avLst>
          </a:prstGeom>
          <a:solidFill>
            <a:srgbClr val="0F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560527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9AB09E"/>
                </a:solidFill>
                <a:latin typeface="Calibri"/>
              </a:rPr>
              <a:t>POST /api/events/suggest-tags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16752" y="3931920"/>
            <a:ext cx="5394960" cy="2057400"/>
          </a:xfrm>
          <a:prstGeom prst="roundRect">
            <a:avLst>
              <a:gd name="adj" fmla="val 6000"/>
            </a:avLst>
          </a:prstGeom>
          <a:solidFill>
            <a:srgbClr val="1A3522"/>
          </a:solidFill>
          <a:ln w="19050">
            <a:solidFill>
              <a:srgbClr val="1A7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16752" y="3931920"/>
            <a:ext cx="5394960" cy="50292"/>
          </a:xfrm>
          <a:prstGeom prst="rect">
            <a:avLst/>
          </a:prstGeom>
          <a:solidFill>
            <a:srgbClr val="1A7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45352" y="4096512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Calibri"/>
              </a:rPr>
              <a:t>04   Popularity Scoring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5352" y="446227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A73A8"/>
                </a:solidFill>
                <a:latin typeface="Calibri"/>
              </a:rPr>
              <a:t>Algorithm: Weighted Multi-Factor Scoring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5352" y="4800600"/>
            <a:ext cx="4937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8F0EA"/>
                </a:solidFill>
                <a:latin typeface="Calibri"/>
              </a:rPr>
              <a:t>Ranks events by rating, engagement, featured status &amp; recency with exponential decay.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45352" y="5605272"/>
            <a:ext cx="4937760" cy="274320"/>
          </a:xfrm>
          <a:prstGeom prst="roundRect">
            <a:avLst>
              <a:gd name="adj" fmla="val 50000"/>
            </a:avLst>
          </a:prstGeom>
          <a:solidFill>
            <a:srgbClr val="0F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45352" y="560527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9AB09E"/>
                </a:solidFill>
                <a:latin typeface="Calibri"/>
              </a:rPr>
              <a:t>EventDto.PopularityScore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27432"/>
          </a:xfrm>
          <a:prstGeom prst="rect">
            <a:avLst/>
          </a:prstGeom>
          <a:solidFill>
            <a:srgbClr val="2A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B09E"/>
                </a:solidFill>
                <a:latin typeface="Calibri"/>
              </a:rPr>
              <a:t>NTB Event Management System  •  Final Defense  •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7395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AB09E"/>
                </a:solidFill>
                <a:latin typeface="Calibri"/>
              </a:rPr>
              <a:t>13 / 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01168"/>
            <a:ext cx="1307592" cy="292608"/>
          </a:xfrm>
          <a:prstGeom prst="roundRect">
            <a:avLst>
              <a:gd name="adj" fmla="val 50000"/>
            </a:avLst>
          </a:prstGeom>
          <a:solidFill>
            <a:srgbClr val="1A3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01168"/>
            <a:ext cx="130759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D4AF37"/>
                </a:solidFill>
                <a:latin typeface="Calibri"/>
              </a:rPr>
              <a:t>AI DEEP DIVE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66928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Recommendation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115568"/>
            <a:ext cx="11430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AB09E"/>
                </a:solidFill>
                <a:latin typeface="Calibri"/>
              </a:rPr>
              <a:t>TF-IDF vectorization → Cosine Similarity → Top-5 similar published events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914400" cy="4114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1691640"/>
            <a:ext cx="2578608" cy="1417320"/>
          </a:xfrm>
          <a:prstGeom prst="roundRect">
            <a:avLst>
              <a:gd name="adj" fmla="val 7000"/>
            </a:avLst>
          </a:prstGeom>
          <a:solidFill>
            <a:srgbClr val="1A3522"/>
          </a:solidFill>
          <a:ln w="1905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691640"/>
            <a:ext cx="2578608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2064" y="182880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1A3522"/>
          </a:solidFill>
          <a:ln w="1905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1828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C8102E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1847088"/>
            <a:ext cx="17556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Build Corpus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2258568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9AB09E"/>
                </a:solidFill>
                <a:latin typeface="Calibri"/>
              </a:rPr>
              <a:t>Concatenate title (3×), summary (2×), description, category, region &amp; tags per event.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48940" y="2272284"/>
            <a:ext cx="1737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C8102E"/>
                </a:solidFill>
                <a:latin typeface="Calibri"/>
              </a:rPr>
              <a:t>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27248" y="1691640"/>
            <a:ext cx="2578608" cy="1417320"/>
          </a:xfrm>
          <a:prstGeom prst="roundRect">
            <a:avLst>
              <a:gd name="adj" fmla="val 7000"/>
            </a:avLst>
          </a:prstGeom>
          <a:solidFill>
            <a:srgbClr val="1A3522"/>
          </a:solidFill>
          <a:ln w="1905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127248" y="1691640"/>
            <a:ext cx="2578608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273552" y="182880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1A3522"/>
          </a:solidFill>
          <a:ln w="1905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73552" y="1828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C8102E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85616" y="1847088"/>
            <a:ext cx="17556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Tokenize &amp; IDF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73552" y="2258568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9AB09E"/>
                </a:solidFill>
                <a:latin typeface="Calibri"/>
              </a:rPr>
              <a:t>Remove stop-words; compute IDF = log((1+N)/(1+df(t)))+1 across the corpus.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0428" y="2272284"/>
            <a:ext cx="1737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C8102E"/>
                </a:solidFill>
                <a:latin typeface="Calibri"/>
              </a:rPr>
              <a:t>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88736" y="1691640"/>
            <a:ext cx="2578608" cy="1417320"/>
          </a:xfrm>
          <a:prstGeom prst="roundRect">
            <a:avLst>
              <a:gd name="adj" fmla="val 7000"/>
            </a:avLst>
          </a:prstGeom>
          <a:solidFill>
            <a:srgbClr val="1A3522"/>
          </a:solidFill>
          <a:ln w="1905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88736" y="1691640"/>
            <a:ext cx="2578608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035040" y="182880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1A3522"/>
          </a:solidFill>
          <a:ln w="1905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0" y="1828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C8102E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1847088"/>
            <a:ext cx="17556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TF-IDF Vectors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2258568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9AB09E"/>
                </a:solidFill>
                <a:latin typeface="Calibri"/>
              </a:rPr>
              <a:t>TF(t,d) × IDF(t) gives each event a sparse, high-dimensional vector.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71916" y="2272284"/>
            <a:ext cx="1737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C8102E"/>
                </a:solidFill>
                <a:latin typeface="Calibri"/>
              </a:rPr>
              <a:t>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50224" y="1691640"/>
            <a:ext cx="2578608" cy="1417320"/>
          </a:xfrm>
          <a:prstGeom prst="roundRect">
            <a:avLst>
              <a:gd name="adj" fmla="val 7000"/>
            </a:avLst>
          </a:prstGeom>
          <a:solidFill>
            <a:srgbClr val="1A3522"/>
          </a:solidFill>
          <a:ln w="1905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650224" y="1691640"/>
            <a:ext cx="2578608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796528" y="182880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1A3522"/>
          </a:solidFill>
          <a:ln w="1905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96528" y="1828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C8102E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08592" y="1847088"/>
            <a:ext cx="17556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Cosine Similarity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96528" y="2258568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9AB09E"/>
                </a:solidFill>
                <a:latin typeface="Calibri"/>
              </a:rPr>
              <a:t>sim(A,B) = (A·B) / (‖A‖×‖B‖) → score 0–1. Sort descending, return top-5.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5760" y="3337560"/>
            <a:ext cx="11109960" cy="566928"/>
          </a:xfrm>
          <a:prstGeom prst="roundRect">
            <a:avLst>
              <a:gd name="adj" fmla="val 15000"/>
            </a:avLst>
          </a:prstGeom>
          <a:solidFill>
            <a:srgbClr val="1C1C1C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3337560"/>
            <a:ext cx="10698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 i="0">
                <a:solidFill>
                  <a:srgbClr val="D4AF37"/>
                </a:solidFill>
                <a:latin typeface="Calibri"/>
              </a:rPr>
              <a:t>TF-IDF(t,d) = TF(t,d) × IDF(t)      similarity(A,B) = (A · B) / (‖A‖ × ‖B‖)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4050792"/>
            <a:ext cx="11109960" cy="1417320"/>
          </a:xfrm>
          <a:prstGeom prst="roundRect">
            <a:avLst>
              <a:gd name="adj" fmla="val 6000"/>
            </a:avLst>
          </a:prstGeom>
          <a:solidFill>
            <a:srgbClr val="1A3522"/>
          </a:solidFill>
          <a:ln w="12700">
            <a:solidFill>
              <a:srgbClr val="2A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4187952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D4AF37"/>
                </a:solidFill>
                <a:latin typeface="Calibri"/>
              </a:rPr>
              <a:t>Why this is NOT a SQL query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4553712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1">
                <a:solidFill>
                  <a:srgbClr val="C8102E"/>
                </a:solidFill>
                <a:latin typeface="Calibri"/>
              </a:rPr>
              <a:t>▸  </a:t>
            </a:r>
            <a:r>
              <a:rPr sz="1100">
                <a:solidFill>
                  <a:srgbClr val="E8F0EA"/>
                </a:solidFill>
                <a:latin typeface="Calibri"/>
              </a:rPr>
              <a:t>All computation runs in the C# application layer, in memory — the database only supplies raw event data.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1">
                <a:solidFill>
                  <a:srgbClr val="C8102E"/>
                </a:solidFill>
                <a:latin typeface="Calibri"/>
              </a:rPr>
              <a:t>▸  </a:t>
            </a:r>
            <a:r>
              <a:rPr sz="1100">
                <a:solidFill>
                  <a:srgbClr val="E8F0EA"/>
                </a:solidFill>
                <a:latin typeface="Calibri"/>
              </a:rPr>
              <a:t>SQL cannot compute vector dot products or cosine distance natively.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1">
                <a:solidFill>
                  <a:srgbClr val="C8102E"/>
                </a:solidFill>
                <a:latin typeface="Calibri"/>
              </a:rPr>
              <a:t>▸  </a:t>
            </a:r>
            <a:r>
              <a:rPr sz="1100">
                <a:solidFill>
                  <a:srgbClr val="E8F0EA"/>
                </a:solidFill>
                <a:latin typeface="Calibri"/>
              </a:rPr>
              <a:t>Verified end-to-end by the system test Recommendations_ForFestivalEvent_ReturnsSimilarCategoryEventsOnly.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27432"/>
          </a:xfrm>
          <a:prstGeom prst="rect">
            <a:avLst/>
          </a:prstGeom>
          <a:solidFill>
            <a:srgbClr val="2A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B09E"/>
                </a:solidFill>
                <a:latin typeface="Calibri"/>
              </a:rPr>
              <a:t>NTB Event Management System  •  Final Defense  •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7395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AB09E"/>
                </a:solidFill>
                <a:latin typeface="Calibri"/>
              </a:rPr>
              <a:t>14 / 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01168"/>
            <a:ext cx="1307592" cy="292608"/>
          </a:xfrm>
          <a:prstGeom prst="roundRect">
            <a:avLst>
              <a:gd name="adj" fmla="val 50000"/>
            </a:avLst>
          </a:prstGeom>
          <a:solidFill>
            <a:srgbClr val="1A3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01168"/>
            <a:ext cx="130759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D4AF37"/>
                </a:solidFill>
                <a:latin typeface="Calibri"/>
              </a:rPr>
              <a:t>AI DEEP DIVE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66928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Smart Search — BM25 Ranking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115568"/>
            <a:ext cx="11430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AB09E"/>
                </a:solidFill>
                <a:latin typeface="Calibri"/>
              </a:rPr>
              <a:t>Probabilistic relevance ranking — the same algorithm used by Elasticsearch and Lucene internally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914400" cy="4114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1691640"/>
            <a:ext cx="11109960" cy="914400"/>
          </a:xfrm>
          <a:prstGeom prst="roundRect">
            <a:avLst>
              <a:gd name="adj" fmla="val 10000"/>
            </a:avLst>
          </a:prstGeom>
          <a:solidFill>
            <a:srgbClr val="1C1C1C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80136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4AF37"/>
                </a:solidFill>
                <a:latin typeface="Calibri"/>
              </a:rPr>
              <a:t>Score(D,Q) = Σ IDF(qi) × [ f(qi,D) × (k1+1) ] / [ f(qi,D) + k1 × (1 − b + b × |D| / avgdl)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221992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AB09E"/>
                </a:solidFill>
                <a:latin typeface="Calibri"/>
              </a:rPr>
              <a:t>f(qi,D) = term frequency in D   ·   |D| = document length   ·   avgdl = average doc length   ·   k1 = 1.5   ·   b = 0.75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834640"/>
            <a:ext cx="5394960" cy="2286000"/>
          </a:xfrm>
          <a:prstGeom prst="roundRect">
            <a:avLst>
              <a:gd name="adj" fmla="val 6000"/>
            </a:avLst>
          </a:prstGeom>
          <a:solidFill>
            <a:srgbClr val="1A3522"/>
          </a:solidFill>
          <a:ln w="12700">
            <a:solidFill>
              <a:srgbClr val="2A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999232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Why BM25 over ILIKE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401568"/>
            <a:ext cx="49377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100" b="1">
                <a:solidFill>
                  <a:srgbClr val="C8102E"/>
                </a:solidFill>
                <a:latin typeface="Calibri"/>
              </a:rPr>
              <a:t>▸  </a:t>
            </a:r>
            <a:r>
              <a:rPr sz="1100">
                <a:solidFill>
                  <a:srgbClr val="E8F0EA"/>
                </a:solidFill>
                <a:latin typeface="Calibri"/>
              </a:rPr>
              <a:t>Plain ILIKE returns everything containing the term — with zero relevance ranking.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100" b="1">
                <a:solidFill>
                  <a:srgbClr val="C8102E"/>
                </a:solidFill>
                <a:latin typeface="Calibri"/>
              </a:rPr>
              <a:t>▸  </a:t>
            </a:r>
            <a:r>
              <a:rPr sz="1100">
                <a:solidFill>
                  <a:srgbClr val="E8F0EA"/>
                </a:solidFill>
                <a:latin typeface="Calibri"/>
              </a:rPr>
              <a:t>BM25 rewards frequent, discriminative terms without unfairly favouring longer documents.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100" b="1">
                <a:solidFill>
                  <a:srgbClr val="C8102E"/>
                </a:solidFill>
                <a:latin typeface="Calibri"/>
              </a:rPr>
              <a:t>▸  </a:t>
            </a:r>
            <a:r>
              <a:rPr sz="1100">
                <a:solidFill>
                  <a:srgbClr val="E8F0EA"/>
                </a:solidFill>
                <a:latin typeface="Calibri"/>
              </a:rPr>
              <a:t>The admin panel's existing ILIKE filter is untouched; BM25 is an additive public search path.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16752" y="2834640"/>
            <a:ext cx="5394960" cy="2286000"/>
          </a:xfrm>
          <a:prstGeom prst="roundRect">
            <a:avLst>
              <a:gd name="adj" fmla="val 6000"/>
            </a:avLst>
          </a:prstGeom>
          <a:solidFill>
            <a:srgbClr val="1A3522"/>
          </a:solidFill>
          <a:ln w="12700">
            <a:solidFill>
              <a:srgbClr val="2A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45352" y="2999232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How it runs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5352" y="3401568"/>
            <a:ext cx="49377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100" b="1">
                <a:solidFill>
                  <a:srgbClr val="C8102E"/>
                </a:solidFill>
                <a:latin typeface="Calibri"/>
              </a:rPr>
              <a:t>▸  </a:t>
            </a:r>
            <a:r>
              <a:rPr sz="1100">
                <a:solidFill>
                  <a:srgbClr val="E8F0EA"/>
                </a:solidFill>
                <a:latin typeface="Calibri"/>
              </a:rPr>
              <a:t>Searchable text = title + summary + location + region, tokenized into an in-memory inverted index (Bm25Ranker).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100" b="1">
                <a:solidFill>
                  <a:srgbClr val="C8102E"/>
                </a:solidFill>
                <a:latin typeface="Calibri"/>
              </a:rPr>
              <a:t>▸  </a:t>
            </a:r>
            <a:r>
              <a:rPr sz="1100">
                <a:solidFill>
                  <a:srgbClr val="E8F0EA"/>
                </a:solidFill>
                <a:latin typeface="Calibri"/>
              </a:rPr>
              <a:t>Each query scores in O(k) time, where k is the number of matching terms.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100" b="1">
                <a:solidFill>
                  <a:srgbClr val="C8102E"/>
                </a:solidFill>
                <a:latin typeface="Calibri"/>
              </a:rPr>
              <a:t>▸  </a:t>
            </a:r>
            <a:r>
              <a:rPr sz="1100">
                <a:solidFill>
                  <a:srgbClr val="E8F0EA"/>
                </a:solidFill>
                <a:latin typeface="Calibri"/>
              </a:rPr>
              <a:t>Endpoint: GET /api/events/search — driven by the search box in PublicNav.svelte.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303520"/>
            <a:ext cx="11109960" cy="685800"/>
          </a:xfrm>
          <a:prstGeom prst="roundRect">
            <a:avLst>
              <a:gd name="adj" fmla="val 15000"/>
            </a:avLst>
          </a:prstGeom>
          <a:solidFill>
            <a:srgbClr val="2B1A1A"/>
          </a:solidFill>
          <a:ln w="1270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30352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Verified by system test SmartSearch_DashainFestivalQuery_RanksFestivalEventsHigher — festival events rank above unrelated events for a festival query.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27432"/>
          </a:xfrm>
          <a:prstGeom prst="rect">
            <a:avLst/>
          </a:prstGeom>
          <a:solidFill>
            <a:srgbClr val="2A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B09E"/>
                </a:solidFill>
                <a:latin typeface="Calibri"/>
              </a:rPr>
              <a:t>NTB Event Management System  •  Final Defense  •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7395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AB09E"/>
                </a:solidFill>
                <a:latin typeface="Calibri"/>
              </a:rPr>
              <a:t>15 / 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01168"/>
            <a:ext cx="1307592" cy="292608"/>
          </a:xfrm>
          <a:prstGeom prst="roundRect">
            <a:avLst>
              <a:gd name="adj" fmla="val 50000"/>
            </a:avLst>
          </a:prstGeom>
          <a:solidFill>
            <a:srgbClr val="1A3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01168"/>
            <a:ext cx="130759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D4AF37"/>
                </a:solidFill>
                <a:latin typeface="Calibri"/>
              </a:rPr>
              <a:t>AI DEEP DIVE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66928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Tag Suggestion &amp; Popularity Scoring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115568"/>
            <a:ext cx="11430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AB09E"/>
                </a:solidFill>
                <a:latin typeface="Calibri"/>
              </a:rPr>
              <a:t>Two more algorithms that make the platform smarter without any ML infrastructure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914400" cy="4114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1691640"/>
            <a:ext cx="5394960" cy="4526280"/>
          </a:xfrm>
          <a:prstGeom prst="roundRect">
            <a:avLst>
              <a:gd name="adj" fmla="val 6000"/>
            </a:avLst>
          </a:prstGeom>
          <a:solidFill>
            <a:srgbClr val="1A3522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691640"/>
            <a:ext cx="5394960" cy="5029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856232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Calibri"/>
              </a:rPr>
              <a:t>Automated Tag Suggestion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22199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  <a:latin typeface="Calibri"/>
              </a:rPr>
              <a:t>TF-IDF Keyword Extraction + Levenshtein Fuzzy Match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624328"/>
            <a:ext cx="49377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00" b="1">
                <a:solidFill>
                  <a:srgbClr val="C8102E"/>
                </a:solidFill>
                <a:latin typeface="Calibri"/>
              </a:rPr>
              <a:t>▸  </a:t>
            </a:r>
            <a:r>
              <a:rPr sz="1100">
                <a:solidFill>
                  <a:srgbClr val="E8F0EA"/>
                </a:solidFill>
                <a:latin typeface="Calibri"/>
              </a:rPr>
              <a:t>Tokenize title + description, remove stop-words.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00" b="1">
                <a:solidFill>
                  <a:srgbClr val="C8102E"/>
                </a:solidFill>
                <a:latin typeface="Calibri"/>
              </a:rPr>
              <a:t>▸  </a:t>
            </a:r>
            <a:r>
              <a:rPr sz="1100">
                <a:solidFill>
                  <a:srgbClr val="E8F0EA"/>
                </a:solidFill>
                <a:latin typeface="Calibri"/>
              </a:rPr>
              <a:t>Score tokens via TF-IDF against the published-event corpus.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00" b="1">
                <a:solidFill>
                  <a:srgbClr val="C8102E"/>
                </a:solidFill>
                <a:latin typeface="Calibri"/>
              </a:rPr>
              <a:t>▸  </a:t>
            </a:r>
            <a:r>
              <a:rPr sz="1100">
                <a:solidFill>
                  <a:srgbClr val="E8F0EA"/>
                </a:solidFill>
                <a:latin typeface="Calibri"/>
              </a:rPr>
              <a:t>Select top-K tokens as candidate keywords.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00" b="1">
                <a:solidFill>
                  <a:srgbClr val="C8102E"/>
                </a:solidFill>
                <a:latin typeface="Calibri"/>
              </a:rPr>
              <a:t>▸  </a:t>
            </a:r>
            <a:r>
              <a:rPr sz="1100">
                <a:solidFill>
                  <a:srgbClr val="E8F0EA"/>
                </a:solidFill>
                <a:latin typeface="Calibri"/>
              </a:rPr>
              <a:t>Fuzzy-match candidates to existing tags using Levenshtein edit distance.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00" b="1">
                <a:solidFill>
                  <a:srgbClr val="C8102E"/>
                </a:solidFill>
                <a:latin typeface="Calibri"/>
              </a:rPr>
              <a:t>▸  </a:t>
            </a:r>
            <a:r>
              <a:rPr sz="1100">
                <a:solidFill>
                  <a:srgbClr val="E8F0EA"/>
                </a:solidFill>
                <a:latin typeface="Calibri"/>
              </a:rPr>
              <a:t>Return ranked tag suggestions to the admin's “Suggest tags” button.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800600"/>
            <a:ext cx="4937760" cy="1051560"/>
          </a:xfrm>
          <a:prstGeom prst="roundRect">
            <a:avLst>
              <a:gd name="adj" fmla="val 8000"/>
            </a:avLst>
          </a:prstGeom>
          <a:solidFill>
            <a:srgbClr val="6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9377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D4AF37"/>
                </a:solidFill>
                <a:latin typeface="Calibri"/>
              </a:rPr>
              <a:t>Verified fuzzy-match case: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25780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Typo “festivle”  →  correctly resolves to  →  “Festival”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16752" y="1691640"/>
            <a:ext cx="5394960" cy="4526280"/>
          </a:xfrm>
          <a:prstGeom prst="roundRect">
            <a:avLst>
              <a:gd name="adj" fmla="val 6000"/>
            </a:avLst>
          </a:prstGeom>
          <a:solidFill>
            <a:srgbClr val="1A3522"/>
          </a:solidFill>
          <a:ln w="19050">
            <a:solidFill>
              <a:srgbClr val="1A7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16752" y="1691640"/>
            <a:ext cx="5394960" cy="50292"/>
          </a:xfrm>
          <a:prstGeom prst="rect">
            <a:avLst/>
          </a:prstGeom>
          <a:solidFill>
            <a:srgbClr val="1A7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45352" y="1856232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Calibri"/>
              </a:rPr>
              <a:t>Weighted Popularity Scoring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5352" y="222199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BA4CF"/>
                </a:solidFill>
                <a:latin typeface="Calibri"/>
              </a:rPr>
              <a:t>Multi-Factor Score + Exponential Recency Decay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45352" y="2606040"/>
            <a:ext cx="4937760" cy="594360"/>
          </a:xfrm>
          <a:prstGeom prst="roundRect">
            <a:avLst>
              <a:gd name="adj" fmla="val 12000"/>
            </a:avLst>
          </a:prstGeom>
          <a:solidFill>
            <a:srgbClr val="1C1C1C"/>
          </a:solidFill>
          <a:ln w="12700">
            <a:solidFill>
              <a:srgbClr val="5BA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2512" y="2606040"/>
            <a:ext cx="46634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5BA4CF"/>
                </a:solidFill>
                <a:latin typeface="Calibri"/>
              </a:rPr>
              <a:t>Score = W_r·Rating + W_a·Attendance + W_f·Featured + W_d·Recency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5352" y="3383280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4AF37"/>
                </a:solidFill>
                <a:latin typeface="Calibri"/>
              </a:rPr>
              <a:t>W_r=0.35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3383280"/>
            <a:ext cx="4069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8F0EA"/>
                </a:solidFill>
                <a:latin typeface="Calibri"/>
              </a:rPr>
              <a:t>Rating — strongest quality signal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5352" y="376732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4AF37"/>
                </a:solidFill>
                <a:latin typeface="Calibri"/>
              </a:rPr>
              <a:t>W_a=0.25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4032" y="3767328"/>
            <a:ext cx="4069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8F0EA"/>
                </a:solidFill>
                <a:latin typeface="Calibri"/>
              </a:rPr>
              <a:t>Attendance / engagement proxy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5352" y="4151376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4AF37"/>
                </a:solidFill>
                <a:latin typeface="Calibri"/>
              </a:rPr>
              <a:t>W_f=0.20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2" y="4151376"/>
            <a:ext cx="4069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8F0EA"/>
                </a:solidFill>
                <a:latin typeface="Calibri"/>
              </a:rPr>
              <a:t>Featured boost (admin-marked)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45352" y="4535424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4AF37"/>
                </a:solidFill>
                <a:latin typeface="Calibri"/>
              </a:rPr>
              <a:t>W_d=0.20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2" y="4535424"/>
            <a:ext cx="4069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8F0EA"/>
                </a:solidFill>
                <a:latin typeface="Calibri"/>
              </a:rPr>
              <a:t>Recency — e^(−0.01 × days)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45352" y="4992624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9AB09E"/>
                </a:solidFill>
                <a:latin typeface="Calibri"/>
              </a:rPr>
              <a:t>Powers the homepage's featured-events ordering — computed entirely in C#, no DB aggregation query.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27432"/>
          </a:xfrm>
          <a:prstGeom prst="rect">
            <a:avLst/>
          </a:prstGeom>
          <a:solidFill>
            <a:srgbClr val="2A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B09E"/>
                </a:solidFill>
                <a:latin typeface="Calibri"/>
              </a:rPr>
              <a:t>NTB Event Management System  •  Final Defense  •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7395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AB09E"/>
                </a:solidFill>
                <a:latin typeface="Calibri"/>
              </a:rPr>
              <a:t>16 / 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01168"/>
            <a:ext cx="1801367" cy="292608"/>
          </a:xfrm>
          <a:prstGeom prst="roundRect">
            <a:avLst>
              <a:gd name="adj" fmla="val 50000"/>
            </a:avLst>
          </a:prstGeom>
          <a:solidFill>
            <a:srgbClr val="1A3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01168"/>
            <a:ext cx="1801367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D4AF37"/>
                </a:solidFill>
                <a:latin typeface="Calibri"/>
              </a:rPr>
              <a:t>NEW SINCE MID-TERM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66928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Guest Invitation &amp; QR Check-in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115568"/>
            <a:ext cx="11430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AB09E"/>
                </a:solidFill>
                <a:latin typeface="Calibri"/>
              </a:rPr>
              <a:t>A full digital attendance workflow spanning Domain, Application, Infrastructure and API layers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914400" cy="4114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0" y="219456"/>
            <a:ext cx="3017520" cy="310896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219456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0D1F13"/>
                </a:solidFill>
                <a:latin typeface="Calibri"/>
              </a:rPr>
              <a:t>EXTENDS ORIGINAL SCOPE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1691640"/>
            <a:ext cx="2066543" cy="1554480"/>
          </a:xfrm>
          <a:prstGeom prst="roundRect">
            <a:avLst>
              <a:gd name="adj" fmla="val 8000"/>
            </a:avLst>
          </a:prstGeom>
          <a:solidFill>
            <a:srgbClr val="1A3522"/>
          </a:solidFill>
          <a:ln w="1587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93776" y="181965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A3522"/>
          </a:solidFill>
          <a:ln w="1905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" y="181965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D4AF37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" y="2313432"/>
            <a:ext cx="181051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Admin Invites Guest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" y="2807208"/>
            <a:ext cx="181051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 i="0">
                <a:solidFill>
                  <a:srgbClr val="9AB09E"/>
                </a:solidFill>
                <a:latin typeface="Calibri"/>
              </a:rPr>
              <a:t>Enter guest email — generates a unique invite token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14015" y="2340864"/>
            <a:ext cx="1463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D4AF37"/>
                </a:solidFill>
                <a:latin typeface="Calibri"/>
              </a:rPr>
              <a:t>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51175" y="1691640"/>
            <a:ext cx="2066543" cy="1554480"/>
          </a:xfrm>
          <a:prstGeom prst="roundRect">
            <a:avLst>
              <a:gd name="adj" fmla="val 8000"/>
            </a:avLst>
          </a:prstGeom>
          <a:solidFill>
            <a:srgbClr val="1A3522"/>
          </a:solidFill>
          <a:ln w="1587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679191" y="181965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A3522"/>
          </a:solidFill>
          <a:ln w="1905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79191" y="181965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D4AF37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79191" y="2313432"/>
            <a:ext cx="181051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QR + Email Sent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79191" y="2807208"/>
            <a:ext cx="181051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 i="0">
                <a:solidFill>
                  <a:srgbClr val="9AB09E"/>
                </a:solidFill>
                <a:latin typeface="Calibri"/>
              </a:rPr>
              <a:t>QRCoder generates a QR; SMTP delivers the invite link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0" y="2340864"/>
            <a:ext cx="1463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D4AF37"/>
                </a:solidFill>
                <a:latin typeface="Calibri"/>
              </a:rPr>
              <a:t>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36590" y="1691640"/>
            <a:ext cx="2066543" cy="1554480"/>
          </a:xfrm>
          <a:prstGeom prst="roundRect">
            <a:avLst>
              <a:gd name="adj" fmla="val 8000"/>
            </a:avLst>
          </a:prstGeom>
          <a:solidFill>
            <a:srgbClr val="1A3522"/>
          </a:solidFill>
          <a:ln w="1587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864606" y="181965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A3522"/>
          </a:solidFill>
          <a:ln w="1905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64606" y="181965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D4AF37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64606" y="2313432"/>
            <a:ext cx="181051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Guest Presents QR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64606" y="2807208"/>
            <a:ext cx="181051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 i="0">
                <a:solidFill>
                  <a:srgbClr val="9AB09E"/>
                </a:solidFill>
                <a:latin typeface="Calibri"/>
              </a:rPr>
              <a:t>Guest opens their landing page and shows the QR at the venue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84845" y="2340864"/>
            <a:ext cx="1463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D4AF37"/>
                </a:solidFill>
                <a:latin typeface="Calibri"/>
              </a:rPr>
              <a:t>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22005" y="1691640"/>
            <a:ext cx="2066543" cy="1554480"/>
          </a:xfrm>
          <a:prstGeom prst="roundRect">
            <a:avLst>
              <a:gd name="adj" fmla="val 8000"/>
            </a:avLst>
          </a:prstGeom>
          <a:solidFill>
            <a:srgbClr val="1A3522"/>
          </a:solidFill>
          <a:ln w="1587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050021" y="181965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A3522"/>
          </a:solidFill>
          <a:ln w="1905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50021" y="181965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D4AF37"/>
                </a:solidFill>
                <a:latin typeface="Calibr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50021" y="2313432"/>
            <a:ext cx="181051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Admin Scans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50021" y="2807208"/>
            <a:ext cx="181051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 i="0">
                <a:solidFill>
                  <a:srgbClr val="9AB09E"/>
                </a:solidFill>
                <a:latin typeface="Calibri"/>
              </a:rPr>
              <a:t>Door-side scan looks up the invitation for a preview (no consume)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70260" y="2340864"/>
            <a:ext cx="1463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D4AF37"/>
                </a:solidFill>
                <a:latin typeface="Calibri"/>
              </a:rPr>
              <a:t>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07420" y="1691640"/>
            <a:ext cx="2066543" cy="1554480"/>
          </a:xfrm>
          <a:prstGeom prst="roundRect">
            <a:avLst>
              <a:gd name="adj" fmla="val 8000"/>
            </a:avLst>
          </a:prstGeom>
          <a:solidFill>
            <a:srgbClr val="1A3522"/>
          </a:solidFill>
          <a:ln w="1587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235436" y="181965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A3522"/>
          </a:solidFill>
          <a:ln w="1905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35436" y="181965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D4AF37"/>
                </a:solidFill>
                <a:latin typeface="Calibr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36" y="2313432"/>
            <a:ext cx="181051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Verify &amp; Check-in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36" y="2807208"/>
            <a:ext cx="181051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 i="0">
                <a:solidFill>
                  <a:srgbClr val="9AB09E"/>
                </a:solidFill>
                <a:latin typeface="Calibri"/>
              </a:rPr>
              <a:t>Admin confirms — QR is consumed / expired, cannot be reused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352044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Invitation Status Lifecycle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65760" y="3977640"/>
            <a:ext cx="1920240" cy="502920"/>
          </a:xfrm>
          <a:prstGeom prst="roundRect">
            <a:avLst>
              <a:gd name="adj" fmla="val 50000"/>
            </a:avLst>
          </a:prstGeom>
          <a:solidFill>
            <a:srgbClr val="122B1A"/>
          </a:solidFill>
          <a:ln w="12700">
            <a:solidFill>
              <a:srgbClr val="2A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397764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pending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86000" y="406908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9AB09E"/>
                </a:solidFill>
                <a:latin typeface="Calibri"/>
              </a:rPr>
              <a:t>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606040" y="3977640"/>
            <a:ext cx="1920240" cy="502920"/>
          </a:xfrm>
          <a:prstGeom prst="roundRect">
            <a:avLst>
              <a:gd name="adj" fmla="val 50000"/>
            </a:avLst>
          </a:prstGeom>
          <a:solidFill>
            <a:srgbClr val="1A73A8"/>
          </a:solidFill>
          <a:ln w="12700">
            <a:solidFill>
              <a:srgbClr val="2A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06040" y="397764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26280" y="406908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9AB09E"/>
                </a:solidFill>
                <a:latin typeface="Calibri"/>
              </a:rPr>
              <a:t>→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846320" y="3977640"/>
            <a:ext cx="1920240" cy="50292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46320" y="397764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verified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66560" y="406908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9AB09E"/>
                </a:solidFill>
                <a:latin typeface="Calibri"/>
              </a:rPr>
              <a:t>→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086600" y="3977640"/>
            <a:ext cx="1920240" cy="502920"/>
          </a:xfrm>
          <a:prstGeom prst="roundRect">
            <a:avLst>
              <a:gd name="adj" fmla="val 50000"/>
            </a:avLst>
          </a:prstGeom>
          <a:solidFill>
            <a:srgbClr val="5A3A1A"/>
          </a:solidFill>
          <a:ln w="12700">
            <a:solidFill>
              <a:srgbClr val="2A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86600" y="397764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expired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06840" y="406908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9AB09E"/>
                </a:solidFill>
                <a:latin typeface="Calibri"/>
              </a:rPr>
              <a:t>→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326880" y="3977640"/>
            <a:ext cx="1920240" cy="502920"/>
          </a:xfrm>
          <a:prstGeom prst="roundRect">
            <a:avLst>
              <a:gd name="adj" fmla="val 50000"/>
            </a:avLst>
          </a:prstGeom>
          <a:solidFill>
            <a:srgbClr val="6A1A1A"/>
          </a:solidFill>
          <a:ln w="12700">
            <a:solidFill>
              <a:srgbClr val="2A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26880" y="397764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cancelled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" y="47548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9AB09E"/>
                </a:solidFill>
                <a:latin typeface="Calibri"/>
              </a:rPr>
              <a:t>Guest, Invitation and InvitationScan entities (Domain) · InvitationService (Application) · GuestRepository, InvitationRepository, QrCodeService, SmtpEmailService (Infrastructure) · InvitationsController (API)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27432"/>
          </a:xfrm>
          <a:prstGeom prst="rect">
            <a:avLst/>
          </a:prstGeom>
          <a:solidFill>
            <a:srgbClr val="2A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B09E"/>
                </a:solidFill>
                <a:latin typeface="Calibri"/>
              </a:rPr>
              <a:t>NTB Event Management System  •  Final Defense  •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7395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AB09E"/>
                </a:solidFill>
                <a:latin typeface="Calibri"/>
              </a:rPr>
              <a:t>17 / 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01168"/>
            <a:ext cx="1225295" cy="292608"/>
          </a:xfrm>
          <a:prstGeom prst="roundRect">
            <a:avLst>
              <a:gd name="adj" fmla="val 50000"/>
            </a:avLst>
          </a:prstGeom>
          <a:solidFill>
            <a:srgbClr val="1A3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01168"/>
            <a:ext cx="1225295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D4AF37"/>
                </a:solidFill>
                <a:latin typeface="Calibri"/>
              </a:rPr>
              <a:t>LIVE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66928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Public Portal — Working Screenshots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70432"/>
            <a:ext cx="914400" cy="4114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" y="1490472"/>
            <a:ext cx="3657600" cy="1849945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2A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8912" y="1559051"/>
            <a:ext cx="54864" cy="5486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7784" y="1559051"/>
            <a:ext cx="54864" cy="54864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76656" y="1559051"/>
            <a:ext cx="54864" cy="5486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" y="1691639"/>
            <a:ext cx="3642969" cy="163414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65760" y="3386137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E8F0EA"/>
                </a:solidFill>
                <a:latin typeface="Calibri"/>
              </a:rPr>
              <a:t>Homepage — Featured Events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65676" y="1490472"/>
            <a:ext cx="3657600" cy="1849945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2A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38828" y="1559051"/>
            <a:ext cx="54864" cy="5486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57700" y="1559051"/>
            <a:ext cx="54864" cy="54864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76572" y="1559051"/>
            <a:ext cx="54864" cy="5486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2991" y="1691639"/>
            <a:ext cx="3642969" cy="163414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265676" y="3386137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E8F0EA"/>
                </a:solidFill>
                <a:latin typeface="Calibri"/>
              </a:rPr>
              <a:t>Smart Search Results (BM25-ranked)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65592" y="1490472"/>
            <a:ext cx="3657600" cy="1849945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2A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38744" y="1559051"/>
            <a:ext cx="54864" cy="5486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357616" y="1559051"/>
            <a:ext cx="54864" cy="54864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76488" y="1559051"/>
            <a:ext cx="54864" cy="5486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2907" y="1691639"/>
            <a:ext cx="3642969" cy="163414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165592" y="3386137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E8F0EA"/>
                </a:solidFill>
                <a:latin typeface="Calibri"/>
              </a:rPr>
              <a:t>Event Details Modal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3761041"/>
            <a:ext cx="3657600" cy="1849945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2A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38912" y="3829621"/>
            <a:ext cx="54864" cy="5486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57784" y="3829621"/>
            <a:ext cx="54864" cy="54864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76656" y="3829621"/>
            <a:ext cx="54864" cy="5486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075" y="3962209"/>
            <a:ext cx="3642969" cy="163414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65760" y="5656707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E8F0EA"/>
                </a:solidFill>
                <a:latin typeface="Calibri"/>
              </a:rPr>
              <a:t>“You Might Also Like” — AI Recommendations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65676" y="3761041"/>
            <a:ext cx="3657600" cy="1849945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2A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338828" y="3829621"/>
            <a:ext cx="54864" cy="5486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457700" y="3829621"/>
            <a:ext cx="54864" cy="54864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576572" y="3829621"/>
            <a:ext cx="54864" cy="5486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2991" y="3962209"/>
            <a:ext cx="3642969" cy="163414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265676" y="5656707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E8F0EA"/>
                </a:solidFill>
                <a:latin typeface="Calibri"/>
              </a:rPr>
              <a:t>Interactive Calendar (AD / BS Toggle)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65592" y="3761041"/>
            <a:ext cx="3657600" cy="2133409"/>
          </a:xfrm>
          <a:prstGeom prst="roundRect">
            <a:avLst>
              <a:gd name="adj" fmla="val 8000"/>
            </a:avLst>
          </a:prstGeom>
          <a:solidFill>
            <a:srgbClr val="1A352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11896" y="3852481"/>
            <a:ext cx="3364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D4AF37"/>
                </a:solidFill>
                <a:latin typeface="Calibri"/>
              </a:rPr>
              <a:t>Public Portal Highlights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11896" y="4163377"/>
            <a:ext cx="3364992" cy="16304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900" b="1">
                <a:solidFill>
                  <a:srgbClr val="C8102E"/>
                </a:solidFill>
                <a:latin typeface="Calibri"/>
              </a:rPr>
              <a:t>▸  </a:t>
            </a:r>
            <a:r>
              <a:rPr sz="900">
                <a:solidFill>
                  <a:srgbClr val="E8F0EA"/>
                </a:solidFill>
                <a:latin typeface="Calibri"/>
              </a:rPr>
              <a:t>Browse, filter &amp; search events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900" b="1">
                <a:solidFill>
                  <a:srgbClr val="C8102E"/>
                </a:solidFill>
                <a:latin typeface="Calibri"/>
              </a:rPr>
              <a:t>▸  </a:t>
            </a:r>
            <a:r>
              <a:rPr sz="900">
                <a:solidFill>
                  <a:srgbClr val="E8F0EA"/>
                </a:solidFill>
                <a:latin typeface="Calibri"/>
              </a:rPr>
              <a:t>AI recommendations per event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900" b="1">
                <a:solidFill>
                  <a:srgbClr val="C8102E"/>
                </a:solidFill>
                <a:latin typeface="Calibri"/>
              </a:rPr>
              <a:t>▸  </a:t>
            </a:r>
            <a:r>
              <a:rPr sz="900">
                <a:solidFill>
                  <a:srgbClr val="E8F0EA"/>
                </a:solidFill>
                <a:latin typeface="Calibri"/>
              </a:rPr>
              <a:t>Dual AD / BS calendar toggle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900" b="1">
                <a:solidFill>
                  <a:srgbClr val="C8102E"/>
                </a:solidFill>
                <a:latin typeface="Calibri"/>
              </a:rPr>
              <a:t>▸  </a:t>
            </a:r>
            <a:r>
              <a:rPr sz="900">
                <a:solidFill>
                  <a:srgbClr val="E8F0EA"/>
                </a:solidFill>
                <a:latin typeface="Calibri"/>
              </a:rPr>
              <a:t>Region, category &amp; type filters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27432"/>
          </a:xfrm>
          <a:prstGeom prst="rect">
            <a:avLst/>
          </a:prstGeom>
          <a:solidFill>
            <a:srgbClr val="2A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B09E"/>
                </a:solidFill>
                <a:latin typeface="Calibri"/>
              </a:rPr>
              <a:t>NTB Event Management System  •  Final Defense  •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7395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AB09E"/>
                </a:solidFill>
                <a:latin typeface="Calibri"/>
              </a:rPr>
              <a:t>18 / 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01168"/>
            <a:ext cx="1225295" cy="292608"/>
          </a:xfrm>
          <a:prstGeom prst="roundRect">
            <a:avLst>
              <a:gd name="adj" fmla="val 50000"/>
            </a:avLst>
          </a:prstGeom>
          <a:solidFill>
            <a:srgbClr val="1A3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01168"/>
            <a:ext cx="1225295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D4AF37"/>
                </a:solidFill>
                <a:latin typeface="Calibri"/>
              </a:rPr>
              <a:t>LIVE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66928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Admin Panel — Working Screenshots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70432"/>
            <a:ext cx="914400" cy="4114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" y="1490472"/>
            <a:ext cx="3657600" cy="1849945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2A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8912" y="1559051"/>
            <a:ext cx="54864" cy="5486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7784" y="1559051"/>
            <a:ext cx="54864" cy="54864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76656" y="1559051"/>
            <a:ext cx="54864" cy="5486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" y="1691639"/>
            <a:ext cx="3642969" cy="163414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65760" y="3386137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E8F0EA"/>
                </a:solidFill>
                <a:latin typeface="Calibri"/>
              </a:rPr>
              <a:t>Admin Dashboard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65676" y="1490472"/>
            <a:ext cx="3657600" cy="1849945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2A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38828" y="1559051"/>
            <a:ext cx="54864" cy="5486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57700" y="1559051"/>
            <a:ext cx="54864" cy="54864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76572" y="1559051"/>
            <a:ext cx="54864" cy="5486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2991" y="1691639"/>
            <a:ext cx="3642969" cy="163414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265676" y="3386137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E8F0EA"/>
                </a:solidFill>
                <a:latin typeface="Calibri"/>
              </a:rPr>
              <a:t>Events Management List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65592" y="1490472"/>
            <a:ext cx="3657600" cy="1849945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2A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38744" y="1559051"/>
            <a:ext cx="54864" cy="5486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357616" y="1559051"/>
            <a:ext cx="54864" cy="54864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76488" y="1559051"/>
            <a:ext cx="54864" cy="5486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2907" y="1691639"/>
            <a:ext cx="3642969" cy="163414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165592" y="3386137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E8F0EA"/>
                </a:solidFill>
                <a:latin typeface="Calibri"/>
              </a:rPr>
              <a:t>Create Event Form (Category, Status, Tags)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3761041"/>
            <a:ext cx="3657600" cy="1849945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2A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38912" y="3829621"/>
            <a:ext cx="54864" cy="5486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57784" y="3829621"/>
            <a:ext cx="54864" cy="54864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76656" y="3829621"/>
            <a:ext cx="54864" cy="5486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1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075" y="3962209"/>
            <a:ext cx="3642969" cy="163414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65760" y="5656707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E8F0EA"/>
                </a:solidFill>
                <a:latin typeface="Calibri"/>
              </a:rPr>
              <a:t>AI Tag Suggestion in Action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65676" y="3761041"/>
            <a:ext cx="3657600" cy="1849945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2A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338828" y="3829621"/>
            <a:ext cx="54864" cy="5486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457700" y="3829621"/>
            <a:ext cx="54864" cy="54864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576572" y="3829621"/>
            <a:ext cx="54864" cy="5486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1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2991" y="3962209"/>
            <a:ext cx="3642969" cy="163414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265676" y="5656707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E8F0EA"/>
                </a:solidFill>
                <a:latin typeface="Calibri"/>
              </a:rPr>
              <a:t>Guest Invitation Form (Check-in Stats)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65592" y="3761041"/>
            <a:ext cx="3657600" cy="1849945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2A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238744" y="3829621"/>
            <a:ext cx="54864" cy="5486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357616" y="3829621"/>
            <a:ext cx="54864" cy="54864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476488" y="3829621"/>
            <a:ext cx="54864" cy="5486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1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72907" y="3962209"/>
            <a:ext cx="3642969" cy="1634147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165592" y="5656707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E8F0EA"/>
                </a:solidFill>
                <a:latin typeface="Calibri"/>
              </a:rPr>
              <a:t>Admin Calendar Setup (AD / BS, Filters)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27432"/>
          </a:xfrm>
          <a:prstGeom prst="rect">
            <a:avLst/>
          </a:prstGeom>
          <a:solidFill>
            <a:srgbClr val="2A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B09E"/>
                </a:solidFill>
                <a:latin typeface="Calibri"/>
              </a:rPr>
              <a:t>NTB Event Management System  •  Final Defense  •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7395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AB09E"/>
                </a:solidFill>
                <a:latin typeface="Calibri"/>
              </a:rPr>
              <a:t>19 / 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01168"/>
            <a:ext cx="896112" cy="292608"/>
          </a:xfrm>
          <a:prstGeom prst="roundRect">
            <a:avLst>
              <a:gd name="adj" fmla="val 50000"/>
            </a:avLst>
          </a:prstGeom>
          <a:solidFill>
            <a:srgbClr val="1A3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01168"/>
            <a:ext cx="89611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D4AF37"/>
                </a:solidFill>
                <a:latin typeface="Calibri"/>
              </a:rPr>
              <a:t>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66928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Testing Strategy &amp;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115568"/>
            <a:ext cx="11430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AB09E"/>
                </a:solidFill>
                <a:latin typeface="Calibri"/>
              </a:rPr>
              <a:t>xUnit + Moq — unit tests plus cross-service system tests against in-memory fakes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914400" cy="4114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1691640"/>
            <a:ext cx="2697480" cy="1051560"/>
          </a:xfrm>
          <a:prstGeom prst="roundRect">
            <a:avLst>
              <a:gd name="adj" fmla="val 10000"/>
            </a:avLst>
          </a:prstGeom>
          <a:solidFill>
            <a:srgbClr val="1A3522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783080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2E7D32"/>
                </a:solidFill>
                <a:latin typeface="Calibri"/>
              </a:rPr>
              <a:t>24 / 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350008"/>
            <a:ext cx="2697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AB09E"/>
                </a:solidFill>
                <a:latin typeface="Calibri"/>
              </a:rPr>
              <a:t>Tests Passing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691640"/>
            <a:ext cx="2697480" cy="1051560"/>
          </a:xfrm>
          <a:prstGeom prst="roundRect">
            <a:avLst>
              <a:gd name="adj" fmla="val 10000"/>
            </a:avLst>
          </a:prstGeom>
          <a:solidFill>
            <a:srgbClr val="1A3522"/>
          </a:solidFill>
          <a:ln w="1905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27832" y="1783080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D4AF37"/>
                </a:solidFill>
                <a:latin typeface="Calibri"/>
              </a:rPr>
              <a:t>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27832" y="2350008"/>
            <a:ext cx="2697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AB09E"/>
                </a:solidFill>
                <a:latin typeface="Calibri"/>
              </a:rPr>
              <a:t>Unit Test Cases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9904" y="1691640"/>
            <a:ext cx="2697480" cy="1051560"/>
          </a:xfrm>
          <a:prstGeom prst="roundRect">
            <a:avLst>
              <a:gd name="adj" fmla="val 10000"/>
            </a:avLst>
          </a:prstGeom>
          <a:solidFill>
            <a:srgbClr val="1A3522"/>
          </a:solidFill>
          <a:ln w="19050">
            <a:solidFill>
              <a:srgbClr val="5BA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9904" y="1783080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5BA4CF"/>
                </a:solidFill>
                <a:latin typeface="Calibri"/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9904" y="2350008"/>
            <a:ext cx="2697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AB09E"/>
                </a:solidFill>
                <a:latin typeface="Calibri"/>
              </a:rPr>
              <a:t>System Test Cases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1691640"/>
            <a:ext cx="2697480" cy="1051560"/>
          </a:xfrm>
          <a:prstGeom prst="roundRect">
            <a:avLst>
              <a:gd name="adj" fmla="val 10000"/>
            </a:avLst>
          </a:prstGeom>
          <a:solidFill>
            <a:srgbClr val="1A3522"/>
          </a:solidFill>
          <a:ln w="1905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51976" y="1783080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C8102E"/>
                </a:solidFill>
                <a:latin typeface="Calibri"/>
              </a:rPr>
              <a:t>&lt; 1 sec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51976" y="2350008"/>
            <a:ext cx="2697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AB09E"/>
                </a:solidFill>
                <a:latin typeface="Calibri"/>
              </a:rPr>
              <a:t>Full Suite Runtime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2926080"/>
            <a:ext cx="11109960" cy="365760"/>
          </a:xfrm>
          <a:prstGeom prst="roundRect">
            <a:avLst>
              <a:gd name="adj" fmla="val 8000"/>
            </a:avLst>
          </a:prstGeom>
          <a:solidFill>
            <a:srgbClr val="122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980944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D4AF37"/>
                </a:solidFill>
                <a:latin typeface="Calibri"/>
              </a:rPr>
              <a:t>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19" y="2980944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D4AF37"/>
                </a:solidFill>
                <a:latin typeface="Calibri"/>
              </a:rPr>
              <a:t>Module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39" y="2980944"/>
            <a:ext cx="6812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D4AF37"/>
                </a:solidFill>
                <a:latin typeface="Calibri"/>
              </a:rPr>
              <a:t>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69880" y="2980944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D4AF37"/>
                </a:solidFill>
                <a:latin typeface="Calibri"/>
              </a:rPr>
              <a:t>Result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310128"/>
            <a:ext cx="777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E8F0EA"/>
                </a:solidFill>
                <a:latin typeface="Calibri"/>
              </a:rPr>
              <a:t>UT-07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19" y="3310128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E8F0EA"/>
                </a:solidFill>
                <a:latin typeface="Calibri"/>
              </a:rPr>
              <a:t>AI – TF-IDF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0439" y="3310128"/>
            <a:ext cx="681227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E8F0EA"/>
                </a:solidFill>
                <a:latin typeface="Calibri"/>
              </a:rPr>
              <a:t>ComputeTfIdf_SingleDocument_TermsWeightedByFrequency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69880" y="3310128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E7D32"/>
                </a:solidFill>
                <a:latin typeface="Calibri"/>
              </a:rPr>
              <a:t>✓ Pass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3639312"/>
            <a:ext cx="777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E8F0EA"/>
                </a:solidFill>
                <a:latin typeface="Calibri"/>
              </a:rPr>
              <a:t>UT-10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19" y="3639312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E8F0EA"/>
                </a:solidFill>
                <a:latin typeface="Calibri"/>
              </a:rPr>
              <a:t>AI – BM25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0439" y="3639312"/>
            <a:ext cx="681227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E8F0EA"/>
                </a:solidFill>
                <a:latin typeface="Calibri"/>
              </a:rPr>
              <a:t>Rank_QueryTermInOneDocumentOnly_RanksThatDocumentFirst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69880" y="3639312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E7D32"/>
                </a:solidFill>
                <a:latin typeface="Calibri"/>
              </a:rPr>
              <a:t>✓ Pass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3968496"/>
            <a:ext cx="777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E8F0EA"/>
                </a:solidFill>
                <a:latin typeface="Calibri"/>
              </a:rPr>
              <a:t>UT-12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19" y="3968496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E8F0EA"/>
                </a:solidFill>
                <a:latin typeface="Calibri"/>
              </a:rPr>
              <a:t>AI – Tag Suggestion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0439" y="3968496"/>
            <a:ext cx="681227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E8F0EA"/>
                </a:solidFill>
                <a:latin typeface="Calibri"/>
              </a:rPr>
              <a:t>SuggestTagsAsync_TitleWithFestivalKeyword_ReturnsRelevantExistingTag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69880" y="3968496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E7D32"/>
                </a:solidFill>
                <a:latin typeface="Calibri"/>
              </a:rPr>
              <a:t>✓ Pass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4297680"/>
            <a:ext cx="777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E8F0EA"/>
                </a:solidFill>
                <a:latin typeface="Calibri"/>
              </a:rPr>
              <a:t>ST-02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17319" y="429768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E8F0EA"/>
                </a:solidFill>
                <a:latin typeface="Calibri"/>
              </a:rPr>
              <a:t>System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20439" y="4297680"/>
            <a:ext cx="681227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E8F0EA"/>
                </a:solidFill>
                <a:latin typeface="Calibri"/>
              </a:rPr>
              <a:t>Public user searches “Dashain festival” using smart search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69880" y="4297680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E7D32"/>
                </a:solidFill>
                <a:latin typeface="Calibri"/>
              </a:rPr>
              <a:t>✓ 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4626864"/>
            <a:ext cx="777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E8F0EA"/>
                </a:solidFill>
                <a:latin typeface="Calibri"/>
              </a:rPr>
              <a:t>ST-06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17319" y="4626864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E8F0EA"/>
                </a:solidFill>
                <a:latin typeface="Calibri"/>
              </a:rPr>
              <a:t>System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20439" y="4626864"/>
            <a:ext cx="681227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E8F0EA"/>
                </a:solidFill>
                <a:latin typeface="Calibri"/>
              </a:rPr>
              <a:t>Unauthenticated request to admin-only endpoint is rejected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69880" y="4626864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E7D32"/>
                </a:solidFill>
                <a:latin typeface="Calibri"/>
              </a:rPr>
              <a:t>✓ Pass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65760" y="5065776"/>
            <a:ext cx="11109960" cy="502920"/>
          </a:xfrm>
          <a:prstGeom prst="roundRect">
            <a:avLst>
              <a:gd name="adj" fmla="val 10000"/>
            </a:avLst>
          </a:prstGeom>
          <a:solidFill>
            <a:srgbClr val="0A0A0A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" y="5065776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Consolas"/>
              </a:rPr>
              <a:t>$ dotnet test NtbEvent.Tests   →   Passed! – Failed: 0, Passed: 24, Skipped: 0, Total: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27432"/>
          </a:xfrm>
          <a:prstGeom prst="rect">
            <a:avLst/>
          </a:prstGeom>
          <a:solidFill>
            <a:srgbClr val="2A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B09E"/>
                </a:solidFill>
                <a:latin typeface="Calibri"/>
              </a:rPr>
              <a:t>NTB Event Management System  •  Final Defense  •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7395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AB09E"/>
                </a:solidFill>
                <a:latin typeface="Calibri"/>
              </a:rPr>
              <a:t>20 / 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01168"/>
            <a:ext cx="896112" cy="292608"/>
          </a:xfrm>
          <a:prstGeom prst="roundRect">
            <a:avLst>
              <a:gd name="adj" fmla="val 50000"/>
            </a:avLst>
          </a:prstGeom>
          <a:solidFill>
            <a:srgbClr val="1A3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01168"/>
            <a:ext cx="89611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D4AF37"/>
                </a:solidFill>
                <a:latin typeface="Calibri"/>
              </a:rPr>
              <a:t>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66928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Result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115568"/>
            <a:ext cx="11430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AB09E"/>
                </a:solidFill>
                <a:latin typeface="Calibri"/>
              </a:rPr>
              <a:t>By final defense, every component below is implemented, integrated and verified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914400" cy="4114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69164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1691640"/>
            <a:ext cx="51755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8F0EA"/>
                </a:solidFill>
                <a:latin typeface="Calibri"/>
              </a:rPr>
              <a:t>Full backend infrastructure — Clean Architecture, PostgreSQL + EF Core migrations, EF Core/Dapper hybrid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09397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2093976"/>
            <a:ext cx="51755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8F0EA"/>
                </a:solidFill>
                <a:latin typeface="Calibri"/>
              </a:rPr>
              <a:t>JWT login, refresh-token rotation, RBAC (SuperAdmin, Admin, Client)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49631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2496312"/>
            <a:ext cx="51755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8F0EA"/>
                </a:solidFill>
                <a:latin typeface="Calibri"/>
              </a:rPr>
              <a:t>Complete Event CRUD — dual dates, image upload, tags, highlights, lifecycle 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89864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2898648"/>
            <a:ext cx="51755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8F0EA"/>
                </a:solidFill>
                <a:latin typeface="Calibri"/>
              </a:rPr>
              <a:t>Category &amp; tag management with many-to-many associations and audit tracking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30098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3300984"/>
            <a:ext cx="51755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8F0EA"/>
                </a:solidFill>
                <a:latin typeface="Calibri"/>
              </a:rPr>
              <a:t>Admin dashboard — listing, pagination, status management, category setup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7033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" y="3703320"/>
            <a:ext cx="51755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8F0EA"/>
                </a:solidFill>
                <a:latin typeface="Calibri"/>
              </a:rPr>
              <a:t>Public homepage — featured events sorted by popularity 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169164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216" y="1691640"/>
            <a:ext cx="51755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8F0EA"/>
                </a:solidFill>
                <a:latin typeface="Calibri"/>
              </a:rPr>
              <a:t>Interactive calendar — month/list toggle, color coding, AD/BS toggle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209397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0216" y="2093976"/>
            <a:ext cx="51755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8F0EA"/>
                </a:solidFill>
                <a:latin typeface="Calibri"/>
              </a:rPr>
              <a:t>Event filtering by type, category, region and date range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249631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216" y="2496312"/>
            <a:ext cx="51755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8F0EA"/>
                </a:solidFill>
                <a:latin typeface="Calibri"/>
              </a:rPr>
              <a:t>Guest invitation &amp; QR check-in — invite → email+QR → scan → verify → consume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289864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0216" y="2898648"/>
            <a:ext cx="51755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8F0EA"/>
                </a:solidFill>
                <a:latin typeface="Calibri"/>
              </a:rPr>
              <a:t>All 4 AI modules wired to the frontend and verified against live seeded data (12 events, 6 categories, 22 tags)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330098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0216" y="3300984"/>
            <a:ext cx="51755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8F0EA"/>
                </a:solidFill>
                <a:latin typeface="Calibri"/>
              </a:rPr>
              <a:t>24-case automated test suite (xUnit + Moq) — all 24 tests pass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27432"/>
          </a:xfrm>
          <a:prstGeom prst="rect">
            <a:avLst/>
          </a:prstGeom>
          <a:solidFill>
            <a:srgbClr val="2A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B09E"/>
                </a:solidFill>
                <a:latin typeface="Calibri"/>
              </a:rPr>
              <a:t>NTB Event Management System  •  Final Defense  •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7395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AB09E"/>
                </a:solidFill>
                <a:latin typeface="Calibri"/>
              </a:rPr>
              <a:t>21 / 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01168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1A3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01168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D4AF37"/>
                </a:solidFill>
                <a:latin typeface="Calibri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66928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115568"/>
            <a:ext cx="11430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AB09E"/>
                </a:solidFill>
                <a:latin typeface="Calibri"/>
              </a:rPr>
              <a:t>A significant step forward in how Nepal's tourism events are managed, published and discovered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914400" cy="4114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1691640"/>
            <a:ext cx="11109960" cy="1280160"/>
          </a:xfrm>
          <a:prstGeom prst="roundRect">
            <a:avLst>
              <a:gd name="adj" fmla="val 6000"/>
            </a:avLst>
          </a:prstGeom>
          <a:solidFill>
            <a:srgbClr val="1A3522"/>
          </a:solidFill>
          <a:ln w="12700">
            <a:solidFill>
              <a:srgbClr val="2A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828800"/>
            <a:ext cx="10652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E8F0EA"/>
                </a:solidFill>
                <a:latin typeface="Calibri"/>
              </a:rPr>
              <a:t>This final phase delivers a fully functional event platform — the complete lifecycle from admin event creation to public discovery, plus a digital guest invitation and QR check-in workflow. The system is feature-complete and deployment-ready.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154680"/>
            <a:ext cx="2697480" cy="1554480"/>
          </a:xfrm>
          <a:prstGeom prst="roundRect">
            <a:avLst>
              <a:gd name="adj" fmla="val 8000"/>
            </a:avLst>
          </a:prstGeom>
          <a:solidFill>
            <a:srgbClr val="1A3522"/>
          </a:solidFill>
          <a:ln w="1587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154680"/>
            <a:ext cx="2697480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355848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4/4 AI Modules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931920"/>
            <a:ext cx="2331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9AB09E"/>
                </a:solidFill>
                <a:latin typeface="Calibri"/>
              </a:rPr>
              <a:t>Self-built in C# — no third-party AI 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27832" y="3154680"/>
            <a:ext cx="2697480" cy="1554480"/>
          </a:xfrm>
          <a:prstGeom prst="roundRect">
            <a:avLst>
              <a:gd name="adj" fmla="val 8000"/>
            </a:avLst>
          </a:prstGeom>
          <a:solidFill>
            <a:srgbClr val="1A3522"/>
          </a:solidFill>
          <a:ln w="1587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27832" y="3154680"/>
            <a:ext cx="269748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10712" y="3355848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Clean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10712" y="3931920"/>
            <a:ext cx="2331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9AB09E"/>
                </a:solidFill>
                <a:latin typeface="Calibri"/>
              </a:rPr>
              <a:t>Maintainable, testable, decoupled layers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9904" y="3154680"/>
            <a:ext cx="2697480" cy="1554480"/>
          </a:xfrm>
          <a:prstGeom prst="roundRect">
            <a:avLst>
              <a:gd name="adj" fmla="val 8000"/>
            </a:avLst>
          </a:prstGeom>
          <a:solidFill>
            <a:srgbClr val="1A3522"/>
          </a:solidFill>
          <a:ln w="15875">
            <a:solidFill>
              <a:srgbClr val="5BA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89904" y="3154680"/>
            <a:ext cx="2697480" cy="45720"/>
          </a:xfrm>
          <a:prstGeom prst="rect">
            <a:avLst/>
          </a:prstGeom>
          <a:solidFill>
            <a:srgbClr val="5BA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4" y="3355848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Dual Calendar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2784" y="3931920"/>
            <a:ext cx="2331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9AB09E"/>
                </a:solidFill>
                <a:latin typeface="Calibri"/>
              </a:rPr>
              <a:t>AD &amp; BS — real-world Nepali government need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51976" y="3154680"/>
            <a:ext cx="2697480" cy="1554480"/>
          </a:xfrm>
          <a:prstGeom prst="roundRect">
            <a:avLst>
              <a:gd name="adj" fmla="val 8000"/>
            </a:avLst>
          </a:prstGeom>
          <a:solidFill>
            <a:srgbClr val="1A3522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51976" y="3154680"/>
            <a:ext cx="2697480" cy="457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34856" y="3355848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24 / 24 Tests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4856" y="3931920"/>
            <a:ext cx="2331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9AB09E"/>
                </a:solidFill>
                <a:latin typeface="Calibri"/>
              </a:rPr>
              <a:t>Automated suite passes in full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27432"/>
          </a:xfrm>
          <a:prstGeom prst="rect">
            <a:avLst/>
          </a:prstGeom>
          <a:solidFill>
            <a:srgbClr val="2A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B09E"/>
                </a:solidFill>
                <a:latin typeface="Calibri"/>
              </a:rPr>
              <a:t>NTB Event Management System  •  Final Defense  •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7395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AB09E"/>
                </a:solidFill>
                <a:latin typeface="Calibri"/>
              </a:rPr>
              <a:t>22 / 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01168"/>
            <a:ext cx="1225295" cy="292608"/>
          </a:xfrm>
          <a:prstGeom prst="roundRect">
            <a:avLst>
              <a:gd name="adj" fmla="val 50000"/>
            </a:avLst>
          </a:prstGeom>
          <a:solidFill>
            <a:srgbClr val="1A3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01168"/>
            <a:ext cx="1225295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D4AF37"/>
                </a:solidFill>
                <a:latin typeface="Calibri"/>
              </a:rPr>
              <a:t>FUTURE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66928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Future Recommendations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70432"/>
            <a:ext cx="914400" cy="4114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" y="1371600"/>
            <a:ext cx="3639312" cy="2057400"/>
          </a:xfrm>
          <a:prstGeom prst="roundRect">
            <a:avLst>
              <a:gd name="adj" fmla="val 8000"/>
            </a:avLst>
          </a:prstGeom>
          <a:solidFill>
            <a:srgbClr val="122B1A"/>
          </a:solidFill>
          <a:ln w="12700">
            <a:solidFill>
              <a:srgbClr val="2A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554480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1A3522"/>
          </a:solidFill>
          <a:ln w="1905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554480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D4AF37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1554480"/>
            <a:ext cx="26791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Collaborative Filtering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" y="2331720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9AB09E"/>
                </a:solidFill>
                <a:latin typeface="Calibri"/>
              </a:rPr>
              <a:t>Extend recommendations with user behaviour data once interaction volume grows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87952" y="1371600"/>
            <a:ext cx="3639312" cy="2057400"/>
          </a:xfrm>
          <a:prstGeom prst="roundRect">
            <a:avLst>
              <a:gd name="adj" fmla="val 8000"/>
            </a:avLst>
          </a:prstGeom>
          <a:solidFill>
            <a:srgbClr val="122B1A"/>
          </a:solidFill>
          <a:ln w="12700">
            <a:solidFill>
              <a:srgbClr val="2A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70832" y="1554480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1A3522"/>
          </a:solidFill>
          <a:ln w="1905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0832" y="1554480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D4AF37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65192" y="1554480"/>
            <a:ext cx="26791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Caching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2331720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9AB09E"/>
                </a:solidFill>
                <a:latin typeface="Calibri"/>
              </a:rPr>
              <a:t>IMemoryCache for pre-computed TF-IDF vectors &amp; BM25 indices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0144" y="1371600"/>
            <a:ext cx="3639312" cy="2057400"/>
          </a:xfrm>
          <a:prstGeom prst="roundRect">
            <a:avLst>
              <a:gd name="adj" fmla="val 8000"/>
            </a:avLst>
          </a:prstGeom>
          <a:solidFill>
            <a:srgbClr val="122B1A"/>
          </a:solidFill>
          <a:ln w="12700">
            <a:solidFill>
              <a:srgbClr val="2A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93024" y="1554480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1A3522"/>
          </a:solidFill>
          <a:ln w="1905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93024" y="1554480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D4AF37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87384" y="1554480"/>
            <a:ext cx="26791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Event Ticketing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331720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9AB09E"/>
                </a:solidFill>
                <a:latin typeface="Calibri"/>
              </a:rPr>
              <a:t>Registration &amp; payment for paid events directly on the platform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611880"/>
            <a:ext cx="3639312" cy="2057400"/>
          </a:xfrm>
          <a:prstGeom prst="roundRect">
            <a:avLst>
              <a:gd name="adj" fmla="val 8000"/>
            </a:avLst>
          </a:prstGeom>
          <a:solidFill>
            <a:srgbClr val="122B1A"/>
          </a:solidFill>
          <a:ln w="12700">
            <a:solidFill>
              <a:srgbClr val="2A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8640" y="3794760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1A3522"/>
          </a:solidFill>
          <a:ln w="1905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794760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D4AF37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3794760"/>
            <a:ext cx="26791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Native Mobile App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" y="4572000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9AB09E"/>
                </a:solidFill>
                <a:latin typeface="Calibri"/>
              </a:rPr>
              <a:t>Cross-platform app reusing the existing API layer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87952" y="3611880"/>
            <a:ext cx="3639312" cy="2057400"/>
          </a:xfrm>
          <a:prstGeom prst="roundRect">
            <a:avLst>
              <a:gd name="adj" fmla="val 8000"/>
            </a:avLst>
          </a:prstGeom>
          <a:solidFill>
            <a:srgbClr val="122B1A"/>
          </a:solidFill>
          <a:ln w="12700">
            <a:solidFill>
              <a:srgbClr val="2A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370832" y="3794760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1A3522"/>
          </a:solidFill>
          <a:ln w="1905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70832" y="3794760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D4AF37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65192" y="3794760"/>
            <a:ext cx="26791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Analytics Dashboard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07408" y="4572000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9AB09E"/>
                </a:solidFill>
                <a:latin typeface="Calibri"/>
              </a:rPr>
              <a:t>Views, search queries, popular categories, regional engagement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10144" y="3611880"/>
            <a:ext cx="3639312" cy="2057400"/>
          </a:xfrm>
          <a:prstGeom prst="roundRect">
            <a:avLst>
              <a:gd name="adj" fmla="val 8000"/>
            </a:avLst>
          </a:prstGeom>
          <a:solidFill>
            <a:srgbClr val="122B1A"/>
          </a:solidFill>
          <a:ln w="12700">
            <a:solidFill>
              <a:srgbClr val="2A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193024" y="3794760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1A3522"/>
          </a:solidFill>
          <a:ln w="1905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93024" y="3794760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D4AF37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87384" y="3794760"/>
            <a:ext cx="26791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Reviews &amp; Notifications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4572000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9AB09E"/>
                </a:solidFill>
                <a:latin typeface="Calibri"/>
              </a:rPr>
              <a:t>User ratings/reviews plus subscription-based event alerts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-1188720"/>
            <a:ext cx="3657600" cy="3657600"/>
          </a:xfrm>
          <a:prstGeom prst="ellipse">
            <a:avLst/>
          </a:prstGeom>
          <a:solidFill>
            <a:srgbClr val="1A3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4572000"/>
            <a:ext cx="2377440" cy="2377440"/>
          </a:xfrm>
          <a:prstGeom prst="ellipse">
            <a:avLst/>
          </a:prstGeom>
          <a:solidFill>
            <a:srgbClr val="122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33172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15468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 i="0">
                <a:solidFill>
                  <a:srgbClr val="D4AF37"/>
                </a:solidFill>
                <a:latin typeface="Calibri"/>
              </a:rPr>
              <a:t>Questions &amp; Discussion Welcome</a:t>
            </a:r>
          </a:p>
        </p:txBody>
      </p:sp>
      <p:sp>
        <p:nvSpPr>
          <p:cNvPr id="8" name="Rectangle 7"/>
          <p:cNvSpPr/>
          <p:nvPr/>
        </p:nvSpPr>
        <p:spPr>
          <a:xfrm>
            <a:off x="5184648" y="3794760"/>
            <a:ext cx="1828800" cy="2743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4069080"/>
            <a:ext cx="121916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E8F0EA"/>
                </a:solidFill>
                <a:latin typeface="Calibri"/>
              </a:rPr>
              <a:t>NTB Event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4407408"/>
            <a:ext cx="121916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0" i="0">
                <a:solidFill>
                  <a:srgbClr val="9AB09E"/>
                </a:solidFill>
                <a:latin typeface="Calibri"/>
              </a:rPr>
              <a:t>Anjal Joshi  •  anjaljoshi6@gmail.com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4709160"/>
            <a:ext cx="121916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9AB09E"/>
                </a:solidFill>
                <a:latin typeface="Calibri"/>
              </a:rPr>
              <a:t>Department of Computer Application  •  Tribhuvan University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46520"/>
            <a:ext cx="12191695" cy="27432"/>
          </a:xfrm>
          <a:prstGeom prst="rect">
            <a:avLst/>
          </a:prstGeom>
          <a:solidFill>
            <a:srgbClr val="2A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9AB09E"/>
                </a:solidFill>
                <a:latin typeface="Calibri"/>
              </a:rPr>
              <a:t>NTB Event Management System  •  Final Defense  • 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9224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 i="0">
                <a:solidFill>
                  <a:srgbClr val="9AB09E"/>
                </a:solidFill>
                <a:latin typeface="Calibri"/>
              </a:rPr>
              <a:t>23 /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