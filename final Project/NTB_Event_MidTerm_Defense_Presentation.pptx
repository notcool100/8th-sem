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3032" y="-1097280"/>
            <a:ext cx="3657600" cy="3657600"/>
          </a:xfrm>
          <a:prstGeom prst="ellipse">
            <a:avLst/>
          </a:prstGeom>
          <a:solidFill>
            <a:srgbClr val="18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14232" y="4846320"/>
            <a:ext cx="2011680" cy="2011680"/>
          </a:xfrm>
          <a:prstGeom prst="ellipse">
            <a:avLst/>
          </a:prstGeom>
          <a:solidFill>
            <a:srgbClr val="15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POKHARA UNIVERSITY  •  CACS452  •  PROJECT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NTB EVENT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AB09E"/>
                </a:solidFill>
                <a:latin typeface="Calibri"/>
              </a:rPr>
              <a:t>A Smart Event Management Platform for Nepal Tourism 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228600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272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EA"/>
                </a:solidFill>
                <a:latin typeface="Calibri"/>
              </a:rPr>
              <a:t>Presented by:  Anjal Joshi  •  Year IV / Semester VIII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930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B09E"/>
                </a:solidFill>
                <a:latin typeface="Calibri"/>
              </a:rPr>
              <a:t>Midterm Defense  •  June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2103120" cy="384048"/>
          </a:xfrm>
          <a:prstGeom prst="rect">
            <a:avLst/>
          </a:prstGeom>
          <a:solidFill>
            <a:srgbClr val="1A3522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77316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102E"/>
                </a:solidFill>
                <a:latin typeface="Calibri"/>
              </a:rPr>
              <a:t>ASP.NET Core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4754880"/>
            <a:ext cx="2103120" cy="384048"/>
          </a:xfrm>
          <a:prstGeom prst="rect">
            <a:avLst/>
          </a:prstGeom>
          <a:solidFill>
            <a:srgbClr val="1A352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477316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SvelteKit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4754880"/>
            <a:ext cx="2103120" cy="384048"/>
          </a:xfrm>
          <a:prstGeom prst="rect">
            <a:avLst/>
          </a:prstGeom>
          <a:solidFill>
            <a:srgbClr val="1A3522"/>
          </a:solidFill>
          <a:ln w="19050">
            <a:solidFill>
              <a:srgbClr val="33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477316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6F99"/>
                </a:solidFill>
                <a:latin typeface="Calibri"/>
              </a:rPr>
              <a:t>PostgreSQL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4754880"/>
            <a:ext cx="2103120" cy="384048"/>
          </a:xfrm>
          <a:prstGeom prst="rect">
            <a:avLst/>
          </a:prstGeom>
          <a:solidFill>
            <a:srgbClr val="1A352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477316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AI / TF-IDF / BM25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Department of Computer Science  •  Pokhara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We'll Cover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2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5577840" cy="84124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54864" cy="8412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6479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176479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Project 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1305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09E"/>
                </a:solidFill>
                <a:latin typeface="Calibri"/>
              </a:rPr>
              <a:t>Background, problem statement &amp;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79192"/>
            <a:ext cx="5577840" cy="84124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79192"/>
            <a:ext cx="54864" cy="8412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5234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75234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1181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09E"/>
                </a:solidFill>
                <a:latin typeface="Calibri"/>
              </a:rPr>
              <a:t>Clean Architecture + tech stack breakdown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66744"/>
            <a:ext cx="5577840" cy="84124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66744"/>
            <a:ext cx="54864" cy="8412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3989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73989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Features Built So Far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1056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09E"/>
                </a:solidFill>
                <a:latin typeface="Calibri"/>
              </a:rPr>
              <a:t>Event CRUD, calendar, admin dashboard, public portal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54296"/>
            <a:ext cx="5577840" cy="84124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654296"/>
            <a:ext cx="54864" cy="8412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72744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72744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AI Modules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0932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09E"/>
                </a:solidFill>
                <a:latin typeface="Calibri"/>
              </a:rPr>
              <a:t>4 self-built algorithms — how they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691640"/>
            <a:ext cx="5577840" cy="84124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1691640"/>
            <a:ext cx="54864" cy="8412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76479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176479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Live Demo Walkthrough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6872" y="21305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09E"/>
                </a:solidFill>
                <a:latin typeface="Calibri"/>
              </a:rPr>
              <a:t>Key screens and user flows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679192"/>
            <a:ext cx="5577840" cy="84124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2679192"/>
            <a:ext cx="54864" cy="8412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275234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6872" y="275234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Testing &amp;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872" y="31181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09E"/>
                </a:solidFill>
                <a:latin typeface="Calibri"/>
              </a:rPr>
              <a:t>Unit tests, system tests, performance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666744"/>
            <a:ext cx="5577840" cy="84124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666744"/>
            <a:ext cx="54864" cy="8412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73989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373989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6872" y="41056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09E"/>
                </a:solidFill>
                <a:latin typeface="Calibri"/>
              </a:rPr>
              <a:t>What's done, what's coming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 We're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Nepal's tourism events lack a smart, centralized digital 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3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11430000" cy="804672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19072"/>
            <a:ext cx="54864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77393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No Central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1773936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NTB had no single place to manage all event types — festivals, holidays, meetings, and general events — from one admin interface.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1828800"/>
            <a:ext cx="2743" cy="585216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11430000" cy="804672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54864" cy="8046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066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Passive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706624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Users had to scroll through flat lists. No intelligence behind what gets surfaced — high-impact events were buried.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2761488"/>
            <a:ext cx="2743" cy="585216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584448"/>
            <a:ext cx="11430000" cy="804672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84448"/>
            <a:ext cx="54864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3931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Inconsistent Tagging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63931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Manual tagging by staff led to category mismatches, making filter-based discovery unreliable.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3694176"/>
            <a:ext cx="2743" cy="585216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517136"/>
            <a:ext cx="11430000" cy="804672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517136"/>
            <a:ext cx="54864" cy="8046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57200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No Smart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45720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Basic keyword search using ILIKE returned irrelevant results with no relevance ranking.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4626864"/>
            <a:ext cx="2743" cy="585216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449824"/>
            <a:ext cx="11430000" cy="804672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449824"/>
            <a:ext cx="54864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50468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Zero Personalization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5504688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There was no way to recommend events related to what a visitor was currently viewing.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5559552"/>
            <a:ext cx="2743" cy="585216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4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5577840" cy="12344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557784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8653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6771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A production-grade event management platform for NTB with full CRUD and lifecycle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737360"/>
            <a:ext cx="5577840" cy="12344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737360"/>
            <a:ext cx="557784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8653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Implement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26771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Role-based access control — Super Admin, Admin, and Client roles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54680"/>
            <a:ext cx="5577840" cy="12344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154680"/>
            <a:ext cx="557784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28269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Deliver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368503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An interactive dual-calendar (AD + BS Bikram Sambat) with month and list 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154680"/>
            <a:ext cx="5577840" cy="12344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154680"/>
            <a:ext cx="557784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328269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Integrate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68503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4 self-built AI modules: recommendations, smart search, tag suggestion, popularity ranking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72000"/>
            <a:ext cx="5577840" cy="12344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557784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700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Ensure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51023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Clean Architecture backend (ASP.NET Core 8) — maintainable, testable, scalable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572000"/>
            <a:ext cx="5577840" cy="12344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572000"/>
            <a:ext cx="557784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4700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Produce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51023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A responsive public portal for event discovery, filtering, and exploration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Clean Architecture backend + SvelteKit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5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5303520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105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09E"/>
                </a:solidFill>
                <a:latin typeface="Calibri"/>
              </a:rPr>
              <a:t>Controllers · JWT Auth · Swagger · CORS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16352"/>
            <a:ext cx="5303520" cy="914400"/>
          </a:xfrm>
          <a:prstGeom prst="rect">
            <a:avLst/>
          </a:prstGeom>
          <a:solidFill>
            <a:srgbClr val="1E5C3A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8950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Application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7355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09E"/>
                </a:solidFill>
                <a:latin typeface="Calibri"/>
              </a:rPr>
              <a:t>Services · Repository Contracts · DTOs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95344"/>
            <a:ext cx="5303520" cy="914400"/>
          </a:xfrm>
          <a:prstGeom prst="rect">
            <a:avLst/>
          </a:prstGeom>
          <a:solidFill>
            <a:srgbClr val="164A2D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684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Infrastructure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5254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09E"/>
                </a:solidFill>
                <a:latin typeface="Calibri"/>
              </a:rPr>
              <a:t>EF Core · Dapper · PostgreSQL · BCrypt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74336"/>
            <a:ext cx="5303520" cy="914400"/>
          </a:xfrm>
          <a:prstGeom prst="rect">
            <a:avLst/>
          </a:prstGeom>
          <a:solidFill>
            <a:srgbClr val="103A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474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Domain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3153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09E"/>
                </a:solidFill>
                <a:latin typeface="Calibri"/>
              </a:rPr>
              <a:t>Entities · Enums · Business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263347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4A33"/>
                </a:solidFill>
                <a:latin typeface="Calibri"/>
              </a:rP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7124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4A33"/>
                </a:solidFill>
                <a:latin typeface="Calibri"/>
              </a:rPr>
              <a:t>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79145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4A33"/>
                </a:solidFill>
                <a:latin typeface="Calibr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737360"/>
            <a:ext cx="5303520" cy="1188720"/>
          </a:xfrm>
          <a:prstGeom prst="rect">
            <a:avLst/>
          </a:prstGeom>
          <a:solidFill>
            <a:srgbClr val="1A35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8105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Frontend — SvelteKit + TypeScript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212848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Reactive UI  •  Admin Dashboard  •  Public Portal
Calendar View  •  Server-Side Rendering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090672"/>
            <a:ext cx="5303520" cy="1188720"/>
          </a:xfrm>
          <a:prstGeom prst="rect">
            <a:avLst/>
          </a:prstGeom>
          <a:solidFill>
            <a:srgbClr val="0F2B1E"/>
          </a:solidFill>
          <a:ln w="19050">
            <a:solidFill>
              <a:srgbClr val="33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1638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A4CF"/>
                </a:solidFill>
                <a:latin typeface="Calibri"/>
              </a:rPr>
              <a:t>Database — PostgreSQL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566160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EF Core for CRUD  •  Dapper for performance
JSON columns for images &amp; highlights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43984"/>
            <a:ext cx="5303520" cy="1188720"/>
          </a:xfrm>
          <a:prstGeom prst="rect">
            <a:avLst/>
          </a:prstGeom>
          <a:solidFill>
            <a:srgbClr val="2B1A1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5171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alibri"/>
              </a:rPr>
              <a:t>AI Modules — Pure C# (No 3rd Party AI)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919472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TF-IDF  •  Cosine Similarity  •  BM25
Keyword Extraction  •  Weighted Scoring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AF37"/>
                </a:solidFill>
                <a:latin typeface="Calibri"/>
              </a:rPr>
              <a:t>◄─►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29077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B09E"/>
                </a:solidFill>
                <a:latin typeface="Calibri"/>
              </a:rPr>
              <a:t>REST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6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19072"/>
            <a:ext cx="2743200" cy="1920240"/>
          </a:xfrm>
          <a:prstGeom prst="rect">
            <a:avLst/>
          </a:prstGeom>
          <a:solidFill>
            <a:srgbClr val="1A3522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719072"/>
            <a:ext cx="274320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836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ASP.NET Core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102E"/>
                </a:solidFill>
                <a:latin typeface="Calibri"/>
              </a:rPr>
              <a:t>REST API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7860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Controllers, middleware, JWT auth, Swagger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1719072"/>
            <a:ext cx="2743200" cy="1920240"/>
          </a:xfrm>
          <a:prstGeom prst="rect">
            <a:avLst/>
          </a:prstGeom>
          <a:solidFill>
            <a:srgbClr val="1A3522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2696" y="1719072"/>
            <a:ext cx="274320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18836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EF Core + Dapper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286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Data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257860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EF Core for CRUD, Dapper for fast list queries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1719072"/>
            <a:ext cx="2743200" cy="1920240"/>
          </a:xfrm>
          <a:prstGeom prst="rect">
            <a:avLst/>
          </a:prstGeom>
          <a:solidFill>
            <a:srgbClr val="1A3522"/>
          </a:solidFill>
          <a:ln w="25400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1719072"/>
            <a:ext cx="2743200" cy="73152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18836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286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3A8"/>
                </a:solidFill>
                <a:latin typeface="Calibri"/>
              </a:rP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7860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Relational DB, JSON columns, migrations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08008" y="1719072"/>
            <a:ext cx="2743200" cy="1920240"/>
          </a:xfrm>
          <a:prstGeom prst="rect">
            <a:avLst/>
          </a:prstGeom>
          <a:solidFill>
            <a:srgbClr val="1A3522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08008" y="1719072"/>
            <a:ext cx="27432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18836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SvelteKit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2286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37"/>
                </a:solidFill>
                <a:latin typeface="Calibri"/>
              </a:rPr>
              <a:t>Frontend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257860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SSR, TypeScript, reactive stores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913632"/>
            <a:ext cx="2743200" cy="1920240"/>
          </a:xfrm>
          <a:prstGeom prst="rect">
            <a:avLst/>
          </a:prstGeom>
          <a:solidFill>
            <a:srgbClr val="1A3522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913632"/>
            <a:ext cx="2743200" cy="7315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0782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JWT + BCrypt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805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1FA2"/>
                </a:solidFill>
                <a:latin typeface="Calibri"/>
              </a:rPr>
              <a:t>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731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Token auth, refresh rotation, password hashing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82696" y="3913632"/>
            <a:ext cx="2743200" cy="1920240"/>
          </a:xfrm>
          <a:prstGeom prst="rect">
            <a:avLst/>
          </a:prstGeom>
          <a:solidFill>
            <a:srgbClr val="1A3522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82696" y="3913632"/>
            <a:ext cx="2743200" cy="7315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19856" y="40782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Clean 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9856" y="44805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C00"/>
                </a:solidFill>
                <a:latin typeface="Calibri"/>
              </a:rPr>
              <a:t>Design Pattern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9856" y="47731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Domain → Application → Infrastructure →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3913632"/>
            <a:ext cx="2743200" cy="1920240"/>
          </a:xfrm>
          <a:prstGeom prst="rect">
            <a:avLst/>
          </a:prstGeom>
          <a:solidFill>
            <a:srgbClr val="1A3522"/>
          </a:solidFill>
          <a:ln w="25400">
            <a:solidFill>
              <a:srgbClr val="00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45352" y="3913632"/>
            <a:ext cx="2743200" cy="73152"/>
          </a:xfrm>
          <a:prstGeom prst="rect">
            <a:avLst/>
          </a:prstGeom>
          <a:solidFill>
            <a:srgbClr val="00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40782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Custom AI (C#)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44805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6A"/>
                </a:solidFill>
                <a:latin typeface="Calibri"/>
              </a:rPr>
              <a:t>AI Modules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47731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TF-IDF, BM25, Cosine Similarity — no 3rd party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08008" y="3913632"/>
            <a:ext cx="2743200" cy="1920240"/>
          </a:xfrm>
          <a:prstGeom prst="rect">
            <a:avLst/>
          </a:prstGeom>
          <a:solidFill>
            <a:srgbClr val="1A3522"/>
          </a:solidFill>
          <a:ln w="25400">
            <a:solidFill>
              <a:srgbClr val="5D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08008" y="3913632"/>
            <a:ext cx="2743200" cy="73152"/>
          </a:xfrm>
          <a:prstGeom prst="rect">
            <a:avLst/>
          </a:prstGeom>
          <a:solidFill>
            <a:srgbClr val="5D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5168" y="40782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Docker Ready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5168" y="44805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4E37"/>
                </a:solidFill>
                <a:latin typeface="Calibri"/>
              </a:rPr>
              <a:t>Deployment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5168" y="47731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Containerized backend + frontend builds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What's Built — Midterm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Core platform complete · AI modules in active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7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64208"/>
            <a:ext cx="685800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8249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✓  COMPLETED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66543"/>
            <a:ext cx="6858000" cy="329184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0311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●  JWT Authentication + Refresh Token Rotation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23159"/>
            <a:ext cx="6858000" cy="329184"/>
          </a:xfrm>
          <a:prstGeom prst="rect">
            <a:avLst/>
          </a:prstGeom>
          <a:solidFill>
            <a:srgbClr val="16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59735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●  Role-based Access (SuperAdmin / Admin / Client)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79775"/>
            <a:ext cx="6858000" cy="329184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16351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●  Full Event CRUD with Dual-Date (AD + BS)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36391"/>
            <a:ext cx="6858000" cy="329184"/>
          </a:xfrm>
          <a:prstGeom prst="rect">
            <a:avLst/>
          </a:prstGeom>
          <a:solidFill>
            <a:srgbClr val="16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72967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●  Image Upload &amp;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93007"/>
            <a:ext cx="6858000" cy="329184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29583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●  Category &amp; Tag Management (Many-to-Many)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49623"/>
            <a:ext cx="6858000" cy="329184"/>
          </a:xfrm>
          <a:prstGeom prst="rect">
            <a:avLst/>
          </a:prstGeom>
          <a:solidFill>
            <a:srgbClr val="16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8619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●  Audit trail for Tag Associations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06239"/>
            <a:ext cx="6858000" cy="329184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42815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●  Admin Dashboard with Pagination &amp; Filters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62855"/>
            <a:ext cx="6858000" cy="329184"/>
          </a:xfrm>
          <a:prstGeom prst="rect">
            <a:avLst/>
          </a:prstGeom>
          <a:solidFill>
            <a:srgbClr val="16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99431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●  Public Homepage with Featured Events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19471"/>
            <a:ext cx="6858000" cy="329184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56047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●  Interactive Calendar (Month + List View)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276087"/>
            <a:ext cx="6858000" cy="329184"/>
          </a:xfrm>
          <a:prstGeom prst="rect">
            <a:avLst/>
          </a:prstGeom>
          <a:solidFill>
            <a:srgbClr val="16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12663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●  Event Filtering (Type, Region, Category, Date)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632703"/>
            <a:ext cx="6858000" cy="329184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66927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●  Event Lifecycle: Draft → Published → Archived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989319"/>
            <a:ext cx="6858000" cy="329184"/>
          </a:xfrm>
          <a:prstGeom prst="rect">
            <a:avLst/>
          </a:prstGeom>
          <a:solidFill>
            <a:srgbClr val="16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025895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●  Responsive UI across all screen sizes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1664208"/>
            <a:ext cx="4297680" cy="347472"/>
          </a:xfrm>
          <a:prstGeom prst="rect">
            <a:avLst/>
          </a:prstGeom>
          <a:solidFill>
            <a:srgbClr val="6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16824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⚙  IN PROGRESS — AI MODULES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2066543"/>
            <a:ext cx="4297680" cy="548640"/>
          </a:xfrm>
          <a:prstGeom prst="rect">
            <a:avLst/>
          </a:prstGeom>
          <a:solidFill>
            <a:srgbClr val="1A352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672" y="2103119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Recommendation Engine (TF-IDF + Cosine)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62672" y="2395727"/>
            <a:ext cx="3749039" cy="128016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62672" y="2395727"/>
            <a:ext cx="2624328" cy="1280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64240" y="2340863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B09E"/>
                </a:solidFill>
                <a:latin typeface="Calibri"/>
              </a:rPr>
              <a:t>70%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2706623"/>
            <a:ext cx="4297680" cy="548640"/>
          </a:xfrm>
          <a:prstGeom prst="rect">
            <a:avLst/>
          </a:prstGeom>
          <a:solidFill>
            <a:srgbClr val="1A352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62672" y="2743199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BM25 Smart Search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62672" y="3035807"/>
            <a:ext cx="3749039" cy="128016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62672" y="3035807"/>
            <a:ext cx="2249423" cy="1280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64240" y="2980943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B09E"/>
                </a:solidFill>
                <a:latin typeface="Calibri"/>
              </a:rPr>
              <a:t>60%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3346703"/>
            <a:ext cx="4297680" cy="548640"/>
          </a:xfrm>
          <a:prstGeom prst="rect">
            <a:avLst/>
          </a:prstGeom>
          <a:solidFill>
            <a:srgbClr val="1A352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62672" y="3383279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Tag Suggestion (Keyword Extraction)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62672" y="3675887"/>
            <a:ext cx="3749039" cy="128016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662672" y="3675887"/>
            <a:ext cx="1874519" cy="1280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64240" y="3621023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B09E"/>
                </a:solidFill>
                <a:latin typeface="Calibri"/>
              </a:rPr>
              <a:t>50%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3986783"/>
            <a:ext cx="4297680" cy="548640"/>
          </a:xfrm>
          <a:prstGeom prst="rect">
            <a:avLst/>
          </a:prstGeom>
          <a:solidFill>
            <a:srgbClr val="1A352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62672" y="4023359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Popularity Scoring Model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62672" y="4315967"/>
            <a:ext cx="3749039" cy="128016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662672" y="4315967"/>
            <a:ext cx="2999232" cy="1280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064240" y="4261103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B09E"/>
                </a:solidFill>
                <a:latin typeface="Calibri"/>
              </a:rPr>
              <a:t>80%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Event Data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Rich entity design supporting real NTB use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8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783080"/>
            <a:ext cx="4114800" cy="4206240"/>
          </a:xfrm>
          <a:prstGeom prst="rect">
            <a:avLst/>
          </a:prstGeom>
          <a:solidFill>
            <a:srgbClr val="1C442B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783080"/>
            <a:ext cx="411480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81965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F13"/>
                </a:solidFill>
                <a:latin typeface="Calibri"/>
              </a:rPr>
              <a:t>Event  (Core Entity)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28600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  Title, Slug,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587752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  LongDescription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889504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  EventType  (Festival/Meeting/Holiday/Event)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19125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  Status  (Draft / Published / Archived)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493008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  DateAd + EndDateAd  (AD)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79476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  DateBs + EndDateBs  (BS / Bikram Sambat)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096512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  Location, Region, Address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398264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  Price, Rating, EntryType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70001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  Images[ ]  (JSON array)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5001768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  Highlights[ ]  (JSON objects)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530352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  Organizer + OrganizerVerified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5605272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  Featured, ReadTime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103120"/>
            <a:ext cx="3474720" cy="1371600"/>
          </a:xfrm>
          <a:prstGeom prst="rect">
            <a:avLst/>
          </a:prstGeom>
          <a:solidFill>
            <a:srgbClr val="1A3522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1945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Calibri"/>
              </a:rPr>
              <a:t>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5786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CreatedBy / UpdatedBy
(FK to User entity)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2606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4A33"/>
                </a:solidFill>
                <a:latin typeface="Calibri"/>
              </a:rPr>
              <a:t>─►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31920"/>
            <a:ext cx="3474720" cy="1371600"/>
          </a:xfrm>
          <a:prstGeom prst="rect">
            <a:avLst/>
          </a:prstGeom>
          <a:solidFill>
            <a:srgbClr val="1A3522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233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Calibri"/>
              </a:rPr>
              <a:t>Categories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4074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Category name
associated per 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434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4A33"/>
                </a:solidFill>
                <a:latin typeface="Calibri"/>
              </a:rPr>
              <a:t>─►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2103120"/>
            <a:ext cx="3474720" cy="1371600"/>
          </a:xfrm>
          <a:prstGeom prst="rect">
            <a:avLst/>
          </a:prstGeom>
          <a:solidFill>
            <a:srgbClr val="1A352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21945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Tags  (Many-to-Many)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5786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Via EventTags junction
table with audit trail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2606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4A33"/>
                </a:solidFill>
                <a:latin typeface="Calibri"/>
              </a:rPr>
              <a:t>◄─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931920"/>
            <a:ext cx="3474720" cy="1371600"/>
          </a:xfrm>
          <a:prstGeom prst="rect">
            <a:avLst/>
          </a:prstGeom>
          <a:solidFill>
            <a:srgbClr val="1A352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40233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EventHighlights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4074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Stored as JSON array
within event row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434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4A33"/>
                </a:solidFill>
                <a:latin typeface="Calibri"/>
              </a:rPr>
              <a:t>◄─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AI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4 Self-Built AI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All implemented in C# — no external AI API dependency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9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530352"/>
            <a:ext cx="4480560" cy="384048"/>
          </a:xfrm>
          <a:prstGeom prst="rect">
            <a:avLst/>
          </a:prstGeom>
          <a:solidFill>
            <a:srgbClr val="6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54864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Not SQL queries. Not 3rd-party AI. Pure algorithms.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91640"/>
            <a:ext cx="5669280" cy="2194560"/>
          </a:xfrm>
          <a:prstGeom prst="rect">
            <a:avLst/>
          </a:prstGeom>
          <a:solidFill>
            <a:srgbClr val="1A3522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691640"/>
            <a:ext cx="566928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8196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01  Recommendation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221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Calibri"/>
              </a:rPr>
              <a:t>Algorithm: TF-IDF + Cosine Similarity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" y="2532888"/>
            <a:ext cx="5212080" cy="1828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587752"/>
            <a:ext cx="5257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WHERE it runs: When a user views an event detail page
WHAT it does: Finds the 5 most content-similar events
HOW: Builds TF-IDF vectors from title+desc+tags, computes dot-product cosine scores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691640"/>
            <a:ext cx="5669280" cy="2194560"/>
          </a:xfrm>
          <a:prstGeom prst="rect">
            <a:avLst/>
          </a:prstGeom>
          <a:solidFill>
            <a:srgbClr val="1A3522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691640"/>
            <a:ext cx="56692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18196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02  Smart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221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Algorithm: BM25 (Okapi Best Match 25)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8232" y="2532888"/>
            <a:ext cx="5212080" cy="1828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2587752"/>
            <a:ext cx="5257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WHERE it runs: Public search bar
WHAT it does: Ranks all events by relevance to the query
HOW: Inverted index + probabilistic term weighting by frequency and doc length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69080"/>
            <a:ext cx="5669280" cy="2194560"/>
          </a:xfrm>
          <a:prstGeom prst="rect">
            <a:avLst/>
          </a:prstGeom>
          <a:solidFill>
            <a:srgbClr val="1A3522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069080"/>
            <a:ext cx="5669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41970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03  Auto Tag Suggestion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599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Algorithm: TF-IDF Keyword Extraction + Levenshtein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" y="4910328"/>
            <a:ext cx="5212080" cy="1828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4965192"/>
            <a:ext cx="5257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WHERE it runs: Admin event create/edit form
WHAT it does: Suggests relevant tags as admin types title/desc
HOW: Extracts high-weight keywords, fuzzy-matches against tag dictionary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069080"/>
            <a:ext cx="5669280" cy="2194560"/>
          </a:xfrm>
          <a:prstGeom prst="rect">
            <a:avLst/>
          </a:prstGeom>
          <a:solidFill>
            <a:srgbClr val="1A3522"/>
          </a:solidFill>
          <a:ln w="25400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069080"/>
            <a:ext cx="5669280" cy="54864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41970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04  Popularity Scoring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599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A8"/>
                </a:solidFill>
                <a:latin typeface="Calibri"/>
              </a:rPr>
              <a:t>Algorithm: Weighted Multi-Factor Scoring + Exponential Decay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28232" y="4910328"/>
            <a:ext cx="5212080" cy="1828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4965192"/>
            <a:ext cx="5257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WHERE it runs: Homepage &amp; featured listings
WHAT it does: Ranks events by real quality, not just date
HOW: Score = 0.35×Rating + 0.25×Attendance + 0.20×Featured + 0.20×Recency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AI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Recommendation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TF-IDF vectorization → Cosine Similarity → Top-5 similar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10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788920" cy="1234440"/>
          </a:xfrm>
          <a:prstGeom prst="rect">
            <a:avLst/>
          </a:prstGeom>
          <a:solidFill>
            <a:srgbClr val="1A3522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27889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013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8288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Build Corpus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Concatenate title (3×) + summary (2×) + desc + category + region + tags for every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102E"/>
                </a:solidFill>
                <a:latin typeface="Calibri"/>
              </a:rPr>
              <a:t>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82696" y="1691640"/>
            <a:ext cx="2788920" cy="1234440"/>
          </a:xfrm>
          <a:prstGeom prst="rect">
            <a:avLst/>
          </a:prstGeom>
          <a:solidFill>
            <a:srgbClr val="1A3522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82696" y="1691640"/>
            <a:ext cx="27889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9856" y="18013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18288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Tokenize &amp; IDF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228600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Remove stop-words, compute IDF: log((1+N)/(1+df(t)))+1  across all event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102E"/>
                </a:solidFill>
                <a:latin typeface="Calibri"/>
              </a:rPr>
              <a:t>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691640"/>
            <a:ext cx="2788920" cy="1234440"/>
          </a:xfrm>
          <a:prstGeom prst="rect">
            <a:avLst/>
          </a:prstGeom>
          <a:solidFill>
            <a:srgbClr val="1A3522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1691640"/>
            <a:ext cx="27889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18013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18288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TF-IDF Vectors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28600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TF(t,d) × IDF(t) gives each event a sparse high-dimensional vector of term weights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4272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102E"/>
                </a:solidFill>
                <a:latin typeface="Calibri"/>
              </a:rPr>
              <a:t>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08008" y="1691640"/>
            <a:ext cx="2788920" cy="1234440"/>
          </a:xfrm>
          <a:prstGeom prst="rect">
            <a:avLst/>
          </a:prstGeom>
          <a:solidFill>
            <a:srgbClr val="1A3522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08008" y="1691640"/>
            <a:ext cx="27889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8" y="18013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18288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Cosine Similarity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8" y="228600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sim(A,B) = (A·B)/(‖A‖×‖B‖)  →  score 0–1. Sort descending, return top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090672"/>
            <a:ext cx="1152144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145536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AF37"/>
                </a:solidFill>
                <a:latin typeface="Calibri"/>
              </a:rPr>
              <a:t>TF-IDF(t,d) = TF(t,d) × IDF(t)     where     IDF(t) = log( (1+N) / (1+df(t)) ) + 1     →     sim(A,B) = (A·B) / (‖A‖ × ‖B‖)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913632"/>
            <a:ext cx="11521440" cy="1600200"/>
          </a:xfrm>
          <a:prstGeom prst="rect">
            <a:avLst/>
          </a:prstGeom>
          <a:solidFill>
            <a:srgbClr val="1A352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98678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Why this is NOT a SQL query — and why that matters: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4074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All computation happens in C# memory after the event data is loaded. The database is just a store.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7365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SQL cannot compute vector dot products or cosine distances natively — this requires linear algebra in the application layer.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06577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Result: truly similar events are surfaced based on semantic content — not just shared categories or matching keywords in WHERE clauses.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AI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Smart Search  —  BM25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Probabilistic relevance ranking, the same algorithm behind Elasticsearch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11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11521440" cy="868680"/>
          </a:xfrm>
          <a:prstGeom prst="rect">
            <a:avLst/>
          </a:prstGeom>
          <a:solidFill>
            <a:srgbClr val="1C1C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  <a:latin typeface="Calibri"/>
              </a:rPr>
              <a:t>Score(D, Q) = Σᵢ  IDF(qᵢ) ×  [ f(qᵢ,D) × (k₁+1) ]  /  [ f(qᵢ,D) + k₁ × (1 − b + b × |D|/avgdl)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43200"/>
            <a:ext cx="3657600" cy="12344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f(q,D)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5292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Term 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6499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B09E"/>
                </a:solidFill>
                <a:latin typeface="Calibri"/>
              </a:rPr>
              <a:t>How many times the query term appears in the event document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743200"/>
            <a:ext cx="3657600" cy="12344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83464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|D|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85292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Document Length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36499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B09E"/>
                </a:solidFill>
                <a:latin typeface="Calibri"/>
              </a:rPr>
              <a:t>Total word count of the event's searchable 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2743200"/>
            <a:ext cx="3657600" cy="12344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83464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avgdl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5292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Avg Document Length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36499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B09E"/>
                </a:solidFill>
                <a:latin typeface="Calibri"/>
              </a:rPr>
              <a:t>Mean word count across all events — normalises doc length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160520"/>
            <a:ext cx="3657600" cy="12344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5196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k₁ = 1.5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27024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Saturation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823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B09E"/>
                </a:solidFill>
                <a:latin typeface="Calibri"/>
              </a:rPr>
              <a:t>Controls how much extra repeats of a term still matter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4160520"/>
            <a:ext cx="3657600" cy="12344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425196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b = 0.75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27024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Length Penalty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7823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B09E"/>
                </a:solidFill>
                <a:latin typeface="Calibri"/>
              </a:rPr>
              <a:t>Prevents long events from unfairly dominating results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80" y="4160520"/>
            <a:ext cx="3657600" cy="12344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25196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IDF(q)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27024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Inverse Doc Freq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7823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B09E"/>
                </a:solidFill>
                <a:latin typeface="Calibri"/>
              </a:rPr>
              <a:t>Rare query terms score higher — more discriminative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87568"/>
            <a:ext cx="11521440" cy="749808"/>
          </a:xfrm>
          <a:prstGeom prst="rect">
            <a:avLst/>
          </a:prstGeom>
          <a:solidFill>
            <a:srgbClr val="6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742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888"/>
                </a:solidFill>
                <a:latin typeface="Calibri"/>
              </a:rPr>
              <a:t>ILIKE '%dashain%'  →  returns ANY match, ranked by nothing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7424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AB09E"/>
                </a:solidFill>
                <a:latin typeface="Calibri"/>
              </a:rPr>
              <a:t>vs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7424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FFAA"/>
                </a:solidFill>
                <a:latin typeface="Calibri"/>
              </a:rPr>
              <a:t>BM25  →  returns matches RANKED by actual relevance to the query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AI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Tag Suggestion  &amp;  Popularity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Two more algorithms that make the platform smarter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12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5669280" cy="4736592"/>
          </a:xfrm>
          <a:prstGeom prst="rect">
            <a:avLst/>
          </a:prstGeom>
          <a:solidFill>
            <a:srgbClr val="1A3522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5669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03  Automated Tag Suggestion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762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BB6A"/>
                </a:solidFill>
                <a:latin typeface="Calibri"/>
              </a:rPr>
              <a:t>TF-IDF Keyword Extraction + Levenshtein Fuzzy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78608"/>
            <a:ext cx="347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BB6A"/>
                </a:solidFill>
                <a:latin typeface="Calibri"/>
              </a:rPr>
              <a:t>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7860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Admin types event title + description in the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45536"/>
            <a:ext cx="347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BB6A"/>
                </a:solidFill>
                <a:latin typeface="Calibri"/>
              </a:rP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145536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System tokenises input, removes stop 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12464"/>
            <a:ext cx="347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BB6A"/>
                </a:solidFill>
                <a:latin typeface="Calibri"/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12464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TF-IDF scores computed against the existing event corpus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79392"/>
            <a:ext cx="347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BB6A"/>
                </a:solidFill>
                <a:latin typeface="Calibri"/>
              </a:rP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79392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Top-K keywords extracted by highest TF-IDF weight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347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BB6A"/>
                </a:solidFill>
                <a:latin typeface="Calibri"/>
              </a:rPr>
              <a:t>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46320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Keywords fuzzy-matched against tag dictionary using Levenshtein distance (edit distance ≤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13248"/>
            <a:ext cx="347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BB6A"/>
                </a:solidFill>
                <a:latin typeface="Calibri"/>
              </a:rP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41324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Matched tags returned ranked by similarity — displayed as clickable chips in the 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664208"/>
            <a:ext cx="5577840" cy="4736592"/>
          </a:xfrm>
          <a:prstGeom prst="rect">
            <a:avLst/>
          </a:prstGeom>
          <a:solidFill>
            <a:srgbClr val="1A3522"/>
          </a:solidFill>
          <a:ln w="25400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1664208"/>
            <a:ext cx="5577840" cy="54864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04  Popularity Scoring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1762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4CF"/>
                </a:solidFill>
                <a:latin typeface="Calibri"/>
              </a:rPr>
              <a:t>Weighted Multi-Factor Scoring + Exponential Recency Decay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2578608"/>
            <a:ext cx="5212080" cy="548640"/>
          </a:xfrm>
          <a:prstGeom prst="rect">
            <a:avLst/>
          </a:prstGeom>
          <a:solidFill>
            <a:srgbClr val="1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65176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Score = 0.35×Rating + 0.25×Attendance + 0.20×Featured + 0.20×Recency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273552"/>
            <a:ext cx="658368" cy="56692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346704"/>
            <a:ext cx="658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BA4CF"/>
                </a:solidFill>
                <a:latin typeface="Calibri"/>
              </a:rPr>
              <a:t>0.35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3291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Rating Weight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8" y="35844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User ratings are the strongest quality signal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041648"/>
            <a:ext cx="658368" cy="56692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114800"/>
            <a:ext cx="658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BA4CF"/>
                </a:solidFill>
                <a:latin typeface="Calibri"/>
              </a:rPr>
              <a:t>0.25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40599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Attendance Weight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43525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Engagement/attendance level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809744"/>
            <a:ext cx="658368" cy="56692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882896"/>
            <a:ext cx="658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BA4CF"/>
                </a:solidFill>
                <a:latin typeface="Calibri"/>
              </a:rPr>
              <a:t>0.20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0608" y="48280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Featured Boost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0608" y="51206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Admin-promoted events get a lift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5577840"/>
            <a:ext cx="658368" cy="56692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5650992"/>
            <a:ext cx="658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BA4CF"/>
                </a:solidFill>
                <a:latin typeface="Calibri"/>
              </a:rPr>
              <a:t>0.20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8" y="55961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Recency Decay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0608" y="588873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Score = e^(−0.01 × days_since_start) — fresh events rank higher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Features — Demo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What the user actually sees and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13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5669280" cy="2148840"/>
          </a:xfrm>
          <a:prstGeom prst="rect">
            <a:avLst/>
          </a:prstGeom>
          <a:solidFill>
            <a:srgbClr val="1A3522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566928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96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Public Homepage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25856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Hero section with Nepal Tourism branding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262432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Featured events with rating + highlights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99008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Stats bar: total events, categories, regions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35584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Category-based quick navigation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691640"/>
            <a:ext cx="5669280" cy="2148840"/>
          </a:xfrm>
          <a:prstGeom prst="rect">
            <a:avLst/>
          </a:prstGeom>
          <a:solidFill>
            <a:srgbClr val="1A3522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691640"/>
            <a:ext cx="56692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8196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Interactive Calendar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25856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Month view with color-coded event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62432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Click any day to see events in that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99008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Toggle between AD (English) and BS (Nepali)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35584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Switch between Month view and List 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23360"/>
            <a:ext cx="5669280" cy="2148840"/>
          </a:xfrm>
          <a:prstGeom prst="rect">
            <a:avLst/>
          </a:prstGeom>
          <a:solidFill>
            <a:srgbClr val="1A3522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023360"/>
            <a:ext cx="5669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41513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459028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Event listing with pagination and filters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" y="495604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One-click status change (Draft/Published/Archived)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" y="532180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Category and tag management 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" y="568756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User management with role assignment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023360"/>
            <a:ext cx="5669280" cy="2148840"/>
          </a:xfrm>
          <a:prstGeom prst="rect">
            <a:avLst/>
          </a:prstGeom>
          <a:solidFill>
            <a:srgbClr val="1A3522"/>
          </a:solidFill>
          <a:ln w="25400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023360"/>
            <a:ext cx="5669280" cy="54864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41513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Event Create / Edit 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459028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Rich fields: title, desc, type, dates, location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495604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Dual-date picker: AD and BS simultaneously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532180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Drag-and-drop image upload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568756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▸  AI tag suggestion chips as admin types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Testing Strategy &amp; Key Test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Unit tests for AI algorithms + system-level end-to-end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14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2743200" cy="1170432"/>
          </a:xfrm>
          <a:prstGeom prst="rect">
            <a:avLst/>
          </a:prstGeom>
          <a:solidFill>
            <a:srgbClr val="1A3522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6537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8102E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3957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B09E"/>
                </a:solidFill>
                <a:latin typeface="Calibri"/>
              </a:rPr>
              <a:t>Unit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2696" y="1664208"/>
            <a:ext cx="2743200" cy="1170432"/>
          </a:xfrm>
          <a:prstGeom prst="rect">
            <a:avLst/>
          </a:prstGeom>
          <a:solidFill>
            <a:srgbClr val="1A3522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2696" y="186537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AF37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696" y="23957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B09E"/>
                </a:solidFill>
                <a:latin typeface="Calibri"/>
              </a:rPr>
              <a:t>System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1664208"/>
            <a:ext cx="2743200" cy="1170432"/>
          </a:xfrm>
          <a:prstGeom prst="rect">
            <a:avLst/>
          </a:prstGeom>
          <a:solidFill>
            <a:srgbClr val="1A3522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86537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7D32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3957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B09E"/>
                </a:solidFill>
                <a:latin typeface="Calibri"/>
              </a:rPr>
              <a:t>Auth 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08008" y="1664208"/>
            <a:ext cx="2743200" cy="1170432"/>
          </a:xfrm>
          <a:prstGeom prst="rect">
            <a:avLst/>
          </a:prstGeom>
          <a:solidFill>
            <a:srgbClr val="1A3522"/>
          </a:solidFill>
          <a:ln w="25400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186537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73A8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3957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B09E"/>
                </a:solidFill>
                <a:latin typeface="Calibri"/>
              </a:rPr>
              <a:t>AI Modules Tested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71800"/>
            <a:ext cx="73152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9" y="2990088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Test 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2971800"/>
            <a:ext cx="201168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990088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2971800"/>
            <a:ext cx="502920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2990088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Test Description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971800"/>
            <a:ext cx="365760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2990088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Expected 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337560"/>
            <a:ext cx="73152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59" y="3383280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UT-08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" y="3337560"/>
            <a:ext cx="201168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383280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Cosine Similarity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3337560"/>
            <a:ext cx="502920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3383280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Two identical event documents compared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3337560"/>
            <a:ext cx="365760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3383280"/>
            <a:ext cx="3584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Score = 1.0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739896"/>
            <a:ext cx="731520" cy="38404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59" y="3785616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UT-09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1560" y="3739896"/>
            <a:ext cx="2011680" cy="38404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3785616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Cosine Similarity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3739896"/>
            <a:ext cx="5029200" cy="38404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3785616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Two completely unrelated documents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3739896"/>
            <a:ext cx="3657600" cy="38404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3785616"/>
            <a:ext cx="3584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Score ≈ 0.0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142232"/>
            <a:ext cx="73152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59" y="4187952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UT-10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1560" y="4142232"/>
            <a:ext cx="201168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4187952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BM25 Search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63240" y="4142232"/>
            <a:ext cx="502920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0" y="4187952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Query term in only one event, not others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4142232"/>
            <a:ext cx="365760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0" y="4187952"/>
            <a:ext cx="3584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That event ranked #1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544568"/>
            <a:ext cx="731520" cy="38404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59" y="459028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UT-12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1560" y="4544568"/>
            <a:ext cx="2011680" cy="38404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97280" y="4590288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Popularity Score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3240" y="4544568"/>
            <a:ext cx="5029200" cy="38404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08960" y="4590288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High-rated + featured event vs. low-rated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92440" y="4544568"/>
            <a:ext cx="3657600" cy="38404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60" y="4590288"/>
            <a:ext cx="3584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Featured event score higher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4946904"/>
            <a:ext cx="73152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59" y="4992624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ST-02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1560" y="4946904"/>
            <a:ext cx="201168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4992624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Smart Search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63240" y="4946904"/>
            <a:ext cx="502920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4992624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Public user searches 'Dashain festival'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92440" y="4946904"/>
            <a:ext cx="365760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38160" y="4992624"/>
            <a:ext cx="3584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Festival events surface first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349240"/>
            <a:ext cx="731520" cy="38404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59" y="5394960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ST-03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" y="5349240"/>
            <a:ext cx="2011680" cy="38404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97280" y="5394960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Recommendations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63240" y="5349240"/>
            <a:ext cx="5029200" cy="38404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108960" y="5394960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User views a festival event, checks sidebar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5349240"/>
            <a:ext cx="3657600" cy="384048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38160" y="5394960"/>
            <a:ext cx="3584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Top 5 similar festival events returned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5751576"/>
            <a:ext cx="73152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59" y="5797296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ST-04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1560" y="5751576"/>
            <a:ext cx="201168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97280" y="5797296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Tag Suggestion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63240" y="5751576"/>
            <a:ext cx="502920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08960" y="5797296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Admin types 'Mountain Trekking Festival' in form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92440" y="5751576"/>
            <a:ext cx="3657600" cy="38404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38160" y="5797296"/>
            <a:ext cx="3584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EA"/>
                </a:solidFill>
                <a:latin typeface="Calibri"/>
              </a:rPr>
              <a:t>Tags: trekking, mountain, festival shown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Timeline — Gantt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8-week development plan: Weeks 1-12, Midterm at Week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15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664208"/>
            <a:ext cx="903427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755648"/>
            <a:ext cx="752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7496" y="1755648"/>
            <a:ext cx="752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0352" y="1755648"/>
            <a:ext cx="752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8" y="1755648"/>
            <a:ext cx="752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6064" y="1755648"/>
            <a:ext cx="752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8920" y="1755648"/>
            <a:ext cx="752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6" y="1755648"/>
            <a:ext cx="752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4632" y="1755648"/>
            <a:ext cx="752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7488" y="1755648"/>
            <a:ext cx="752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0344" y="1755648"/>
            <a:ext cx="752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3200" y="1755648"/>
            <a:ext cx="752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6056" y="1755648"/>
            <a:ext cx="752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78768" y="1664208"/>
            <a:ext cx="27432" cy="3657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35284" y="49103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4AF37"/>
                </a:solidFill>
                <a:latin typeface="Calibri"/>
              </a:rPr>
              <a:t>MIDTERM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21408"/>
            <a:ext cx="2514600" cy="457200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212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EA"/>
                </a:solidFill>
                <a:latin typeface="Calibri"/>
              </a:rPr>
              <a:t>Project Setup &amp; DB 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2121408"/>
            <a:ext cx="9034272" cy="457200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71216" y="2212848"/>
            <a:ext cx="1432560" cy="2743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2578608"/>
            <a:ext cx="2514600" cy="45720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670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EA"/>
                </a:solidFill>
                <a:latin typeface="Calibri"/>
              </a:rPr>
              <a:t>Auth Module (JWT + Roles)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578608"/>
            <a:ext cx="9034272" cy="45720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24072" y="2670048"/>
            <a:ext cx="1432560" cy="274320"/>
          </a:xfrm>
          <a:prstGeom prst="rect">
            <a:avLst/>
          </a:prstGeom>
          <a:solidFill>
            <a:srgbClr val="AD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035808"/>
            <a:ext cx="2514600" cy="457200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127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EA"/>
                </a:solidFill>
                <a:latin typeface="Calibri"/>
              </a:rPr>
              <a:t>Event CRUD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3035808"/>
            <a:ext cx="9034272" cy="457200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76928" y="3127248"/>
            <a:ext cx="2185416" cy="274320"/>
          </a:xfrm>
          <a:prstGeom prst="rect">
            <a:avLst/>
          </a:prstGeom>
          <a:solidFill>
            <a:srgbClr val="6A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493008"/>
            <a:ext cx="2514600" cy="45720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5844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EA"/>
                </a:solidFill>
                <a:latin typeface="Calibri"/>
              </a:rPr>
              <a:t>Admin Dashboard UI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493008"/>
            <a:ext cx="9034272" cy="45720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29784" y="3584448"/>
            <a:ext cx="2185416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3950208"/>
            <a:ext cx="2514600" cy="457200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0416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EA"/>
                </a:solidFill>
                <a:latin typeface="Calibri"/>
              </a:rPr>
              <a:t>Calendar Component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3950208"/>
            <a:ext cx="9034272" cy="457200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82640" y="4041648"/>
            <a:ext cx="2185416" cy="274320"/>
          </a:xfrm>
          <a:prstGeom prst="rect">
            <a:avLst/>
          </a:prstGeom>
          <a:solidFill>
            <a:srgbClr val="B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4407408"/>
            <a:ext cx="2514600" cy="45720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498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EA"/>
                </a:solidFill>
                <a:latin typeface="Calibri"/>
              </a:rPr>
              <a:t>Public Portal &amp; Filters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407408"/>
            <a:ext cx="9034272" cy="45720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35496" y="4498848"/>
            <a:ext cx="2185416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4864608"/>
            <a:ext cx="2514600" cy="457200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956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EA"/>
                </a:solidFill>
                <a:latin typeface="Calibri"/>
              </a:rPr>
              <a:t>AI: TF-IDF + Cosine Similarity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4864608"/>
            <a:ext cx="9034272" cy="457200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41208" y="4956048"/>
            <a:ext cx="2938272" cy="27432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5321808"/>
            <a:ext cx="2514600" cy="45720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5413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EA"/>
                </a:solidFill>
                <a:latin typeface="Calibri"/>
              </a:rPr>
              <a:t>AI: BM25 Search Ranking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5321808"/>
            <a:ext cx="9034272" cy="45720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94064" y="5413248"/>
            <a:ext cx="2185416" cy="274320"/>
          </a:xfrm>
          <a:prstGeom prst="rect">
            <a:avLst/>
          </a:prstGeom>
          <a:solidFill>
            <a:srgbClr val="13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0040" y="5779008"/>
            <a:ext cx="2514600" cy="457200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8704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EA"/>
                </a:solidFill>
                <a:latin typeface="Calibri"/>
              </a:rPr>
              <a:t>AI: Tag Suggestion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5779008"/>
            <a:ext cx="9034272" cy="457200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94064" y="5870448"/>
            <a:ext cx="2185416" cy="274320"/>
          </a:xfrm>
          <a:prstGeom prst="rect">
            <a:avLst/>
          </a:prstGeom>
          <a:solidFill>
            <a:srgbClr val="0D4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0040" y="6236208"/>
            <a:ext cx="2514600" cy="45720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3276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EA"/>
                </a:solidFill>
                <a:latin typeface="Calibri"/>
              </a:rPr>
              <a:t>AI: Popularity Scoring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0" y="6236208"/>
            <a:ext cx="9034272" cy="45720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88352" y="6327648"/>
            <a:ext cx="2938272" cy="274320"/>
          </a:xfrm>
          <a:prstGeom prst="rect">
            <a:avLst/>
          </a:prstGeom>
          <a:solidFill>
            <a:srgbClr val="005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0040" y="6693408"/>
            <a:ext cx="2514600" cy="457200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784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EA"/>
                </a:solidFill>
                <a:latin typeface="Calibri"/>
              </a:rPr>
              <a:t>Testing &amp; Documentation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34640" y="6693408"/>
            <a:ext cx="9034272" cy="457200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46920" y="6784848"/>
            <a:ext cx="2185416" cy="274320"/>
          </a:xfrm>
          <a:prstGeom prst="rect">
            <a:avLst/>
          </a:prstGeom>
          <a:solidFill>
            <a:srgbClr val="4A1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LEARNINGS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Challenges Faced &amp; How We Solved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16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5669280" cy="21488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566928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8013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Dual Calendar Support (AD + BS)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2221992"/>
            <a:ext cx="804672" cy="228600"/>
          </a:xfrm>
          <a:prstGeom prst="rect">
            <a:avLst/>
          </a:prstGeom>
          <a:solidFill>
            <a:srgbClr val="6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22199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47802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AA"/>
                </a:solidFill>
                <a:latin typeface="Calibri"/>
              </a:rPr>
              <a:t>Bikram Sambat has variable month lengths and no standard library support in .NET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862072"/>
            <a:ext cx="804672" cy="228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86207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118104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BB"/>
                </a:solidFill>
                <a:latin typeface="Calibri"/>
              </a:rPr>
              <a:t>Implemented a custom date conversion utility in both C# and TypeScript that maps AD↔BS using a lookup table for all year ranges covered by the event calendar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691640"/>
            <a:ext cx="5669280" cy="21488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691640"/>
            <a:ext cx="566928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18013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Stale Entity Error in EF 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28232" y="2221992"/>
            <a:ext cx="804672" cy="228600"/>
          </a:xfrm>
          <a:prstGeom prst="rect">
            <a:avLst/>
          </a:prstGeom>
          <a:solidFill>
            <a:srgbClr val="6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22199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47802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AA"/>
                </a:solidFill>
                <a:latin typeface="Calibri"/>
              </a:rPr>
              <a:t>Reading with AsNoTracking() then immediately calling Update() caused entity-already-tracked conflicts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8232" y="2862072"/>
            <a:ext cx="804672" cy="228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286207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3118104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BB"/>
                </a:solidFill>
                <a:latin typeface="Calibri"/>
              </a:rPr>
              <a:t>Solved by ensuring all GetById calls use AsNoTracking(), then Update() re-attaches the detached entity cleanly — no SaveChanges twice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023360"/>
            <a:ext cx="5669280" cy="21488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023360"/>
            <a:ext cx="566928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41330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Cold-Start Problem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" y="4553712"/>
            <a:ext cx="804672" cy="228600"/>
          </a:xfrm>
          <a:prstGeom prst="rect">
            <a:avLst/>
          </a:prstGeom>
          <a:solidFill>
            <a:srgbClr val="6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45537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480974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AA"/>
                </a:solidFill>
                <a:latin typeface="Calibri"/>
              </a:rPr>
              <a:t>Content-based filtering needs a corpus of events to build TF-IDF vectors — an empty database returns nothing useful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" y="5193792"/>
            <a:ext cx="804672" cy="228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" y="519379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5449824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BB"/>
                </a:solidFill>
                <a:latin typeface="Calibri"/>
              </a:rPr>
              <a:t>Seeded the database with 15+ real NTB events at startup so the recommendation engine has a meaningful corpus from day 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023360"/>
            <a:ext cx="5669280" cy="2148840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023360"/>
            <a:ext cx="566928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41330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Dynamic SQL vs SQL Injection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28232" y="4553712"/>
            <a:ext cx="804672" cy="228600"/>
          </a:xfrm>
          <a:prstGeom prst="rect">
            <a:avLst/>
          </a:prstGeom>
          <a:solidFill>
            <a:srgbClr val="6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45537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480974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AA"/>
                </a:solidFill>
                <a:latin typeface="Calibri"/>
              </a:rPr>
              <a:t>The filter query needed dynamic WHERE clauses but building SQL strings from user input is dangerous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28232" y="5193792"/>
            <a:ext cx="804672" cy="228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8232" y="519379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8232" y="5449824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BB"/>
                </a:solidFill>
                <a:latin typeface="Calibri"/>
              </a:rPr>
              <a:t>Used Dapper DynamicParameters so user inputs are always parameterised — the query structure is code-controlled, the values are always bound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2743"/>
          </a:xfrm>
          <a:prstGeom prst="rect">
            <a:avLst/>
          </a:prstGeom>
          <a:solidFill>
            <a:srgbClr val="2A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Midterm Defense  •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"/>
            <a:ext cx="2377440" cy="29260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10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Midterm checkpoint — core platform complete, AI in final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17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5577840" cy="40233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824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We've Achieved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03120"/>
            <a:ext cx="5577840" cy="56692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✓  Complete event management backend — Clean Architecture, EF Core + Dapper, 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61488"/>
            <a:ext cx="5577840" cy="56692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529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✓  Role-based authentication — JWT with refresh token rotation, BCrypt password hashing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19856"/>
            <a:ext cx="5577840" cy="56692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51129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✓  Full admin portal — events, categories, tags, users, lifecycle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78224"/>
            <a:ext cx="5577840" cy="56692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6966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✓  Responsive public portal — homepage, calendar, list view, filtering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736592"/>
            <a:ext cx="5577840" cy="56692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✓  Dual-calendar (AD + BS) support throughout the entire application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394960"/>
            <a:ext cx="5577840" cy="566928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4864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  ✓  4 AI module architectures designed and implementation in progress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664208"/>
            <a:ext cx="5669280" cy="40233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6824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Final Defense Targets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103120"/>
            <a:ext cx="5669280" cy="56692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2103120"/>
            <a:ext cx="50292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13969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Complete AI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3957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Wire all 4 AI modules to live API endpoints and frontend UI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761488"/>
            <a:ext cx="5669280" cy="56692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2761488"/>
            <a:ext cx="50292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79806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Recommendation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05409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GET /api/events/{id}/recommendations live and tested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419856"/>
            <a:ext cx="5669280" cy="56692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3419856"/>
            <a:ext cx="50292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45643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BM25 Search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71246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Replace current ILIKE search with BM25-ranked results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078224"/>
            <a:ext cx="5669280" cy="56692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4078224"/>
            <a:ext cx="50292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11480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Tag Suggestion UI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37083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Chip suggestions visible in admin event form in real time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736592"/>
            <a:ext cx="5669280" cy="56692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736592"/>
            <a:ext cx="50292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77316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Comprehensive Testing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02920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Full unit + system test suite, result analysis report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5394960"/>
            <a:ext cx="5669280" cy="566928"/>
          </a:xfrm>
          <a:prstGeom prst="rect">
            <a:avLst/>
          </a:prstGeom>
          <a:solidFill>
            <a:srgbClr val="1A3522"/>
          </a:solidFill>
          <a:ln w="12700">
            <a:solidFill>
              <a:srgbClr val="2A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72200" y="5394960"/>
            <a:ext cx="50292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543153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Deployment &amp; Demo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68756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Dockerized deployment, live demo environment ready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1371600"/>
            <a:ext cx="5029200" cy="5029200"/>
          </a:xfrm>
          <a:prstGeom prst="ellipse">
            <a:avLst/>
          </a:prstGeom>
          <a:solidFill>
            <a:srgbClr val="18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297680"/>
            <a:ext cx="2743200" cy="2743200"/>
          </a:xfrm>
          <a:prstGeom prst="ellipse">
            <a:avLst/>
          </a:prstGeom>
          <a:solidFill>
            <a:srgbClr val="15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78608"/>
            <a:ext cx="256032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9AB09E"/>
                </a:solidFill>
                <a:latin typeface="Calibri"/>
              </a:rPr>
              <a:t>Questions &amp; Discussion Welcome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Project: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493008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NTB Event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68496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Developer: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968496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B09E"/>
                </a:solidFill>
                <a:latin typeface="Calibri"/>
              </a:rPr>
              <a:t>Anjal Joshi  •  anjaljoshi6@gmail.com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4398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Defense: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443984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B09E"/>
                </a:solidFill>
                <a:latin typeface="Calibri"/>
              </a:rPr>
              <a:t>Midterm  •  June 2026  •  Semester VIII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2103120" cy="384048"/>
          </a:xfrm>
          <a:prstGeom prst="rect">
            <a:avLst/>
          </a:prstGeom>
          <a:solidFill>
            <a:srgbClr val="1A3522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389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8102E"/>
                </a:solidFill>
                <a:latin typeface="Calibri"/>
              </a:rPr>
              <a:t>ASP.NET Core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5120640"/>
            <a:ext cx="2103120" cy="384048"/>
          </a:xfrm>
          <a:prstGeom prst="rect">
            <a:avLst/>
          </a:prstGeom>
          <a:solidFill>
            <a:srgbClr val="1A352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51389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SvelteKit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5120640"/>
            <a:ext cx="2103120" cy="384048"/>
          </a:xfrm>
          <a:prstGeom prst="rect">
            <a:avLst/>
          </a:prstGeom>
          <a:solidFill>
            <a:srgbClr val="1A3522"/>
          </a:solidFill>
          <a:ln w="19050">
            <a:solidFill>
              <a:srgbClr val="33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51389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36F99"/>
                </a:solidFill>
                <a:latin typeface="Calibri"/>
              </a:rPr>
              <a:t>PostgreSQL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5120640"/>
            <a:ext cx="2103120" cy="384048"/>
          </a:xfrm>
          <a:prstGeom prst="rect">
            <a:avLst/>
          </a:prstGeom>
          <a:solidFill>
            <a:srgbClr val="1A352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51389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E7D32"/>
                </a:solidFill>
                <a:latin typeface="Calibri"/>
              </a:rPr>
              <a:t>TF-IDF + BM25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5120640"/>
            <a:ext cx="2103120" cy="384048"/>
          </a:xfrm>
          <a:prstGeom prst="rect">
            <a:avLst/>
          </a:prstGeom>
          <a:solidFill>
            <a:srgbClr val="1A3522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51389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7B1FA2"/>
                </a:solidFill>
                <a:latin typeface="Calibri"/>
              </a:rPr>
              <a:t>Clean Architecture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Department of Computer Science  •  Pokhara University  •  CACS452 Project III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